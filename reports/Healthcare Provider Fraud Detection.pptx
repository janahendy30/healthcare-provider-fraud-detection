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96" r:id="rId1"/>
  </p:sldMasterIdLst>
  <p:notesMasterIdLst>
    <p:notesMasterId r:id="rId22"/>
  </p:notesMasterIdLst>
  <p:sldIdLst>
    <p:sldId id="256" r:id="rId2"/>
    <p:sldId id="257" r:id="rId3"/>
    <p:sldId id="258" r:id="rId4"/>
    <p:sldId id="259" r:id="rId5"/>
    <p:sldId id="262" r:id="rId6"/>
    <p:sldId id="263" r:id="rId7"/>
    <p:sldId id="264" r:id="rId8"/>
    <p:sldId id="267" r:id="rId9"/>
    <p:sldId id="265" r:id="rId10"/>
    <p:sldId id="266" r:id="rId11"/>
    <p:sldId id="269" r:id="rId12"/>
    <p:sldId id="270" r:id="rId13"/>
    <p:sldId id="277" r:id="rId14"/>
    <p:sldId id="278" r:id="rId15"/>
    <p:sldId id="271" r:id="rId16"/>
    <p:sldId id="275" r:id="rId17"/>
    <p:sldId id="276" r:id="rId18"/>
    <p:sldId id="272" r:id="rId19"/>
    <p:sldId id="273" r:id="rId20"/>
    <p:sldId id="274"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p:scale>
          <a:sx n="62" d="100"/>
          <a:sy n="62" d="100"/>
        </p:scale>
        <p:origin x="828" y="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E693A91-00BC-406A-921E-9FC0E622AE3F}" type="datetimeFigureOut">
              <a:rPr lang="en-US" smtClean="0"/>
              <a:t>12/2/2025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5FBC6DF-C2BD-4668-B5CA-FA57750D059A}" type="slidenum">
              <a:rPr lang="en-US" smtClean="0"/>
              <a:t>‹#›</a:t>
            </a:fld>
            <a:endParaRPr lang="en-US"/>
          </a:p>
        </p:txBody>
      </p:sp>
    </p:spTree>
    <p:extLst>
      <p:ext uri="{BB962C8B-B14F-4D97-AF65-F5344CB8AC3E}">
        <p14:creationId xmlns:p14="http://schemas.microsoft.com/office/powerpoint/2010/main" val="21077775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5FBC6DF-C2BD-4668-B5CA-FA57750D059A}" type="slidenum">
              <a:rPr lang="en-US" smtClean="0"/>
              <a:t>3</a:t>
            </a:fld>
            <a:endParaRPr lang="en-US"/>
          </a:p>
        </p:txBody>
      </p:sp>
    </p:spTree>
    <p:extLst>
      <p:ext uri="{BB962C8B-B14F-4D97-AF65-F5344CB8AC3E}">
        <p14:creationId xmlns:p14="http://schemas.microsoft.com/office/powerpoint/2010/main" val="408604900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lgn="ctr">
              <a:defRPr sz="3800">
                <a:solidFill>
                  <a:srgbClr val="262626"/>
                </a:solidFill>
              </a:defRPr>
            </a:lvl1pPr>
          </a:lstStyle>
          <a:p>
            <a:r>
              <a:rPr lang="en-US"/>
              <a:t>Click to edit Master title style</a:t>
            </a:r>
            <a:endParaRPr lang="en-US" dirty="0"/>
          </a:p>
        </p:txBody>
      </p:sp>
      <p:sp>
        <p:nvSpPr>
          <p:cNvPr id="3" name="Subtitle 2"/>
          <p:cNvSpPr>
            <a:spLocks noGrp="1"/>
          </p:cNvSpPr>
          <p:nvPr>
            <p:ph type="subTitle" idx="1"/>
          </p:nvPr>
        </p:nvSpPr>
        <p:spPr>
          <a:xfrm>
            <a:off x="2695194" y="4352544"/>
            <a:ext cx="6801612" cy="1239894"/>
          </a:xfrm>
          <a:noFill/>
        </p:spPr>
        <p:txBody>
          <a:bodyPr>
            <a:normAutofit/>
          </a:bodyPr>
          <a:lstStyle>
            <a:lvl1pPr marL="0" indent="0" algn="ctr">
              <a:buNone/>
              <a:defRPr sz="2000">
                <a:solidFill>
                  <a:schemeClr val="tx1">
                    <a:lumMod val="75000"/>
                    <a:lumOff val="2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7" name="Date Placeholder 6"/>
          <p:cNvSpPr>
            <a:spLocks noGrp="1"/>
          </p:cNvSpPr>
          <p:nvPr>
            <p:ph type="dt" sz="half" idx="10"/>
          </p:nvPr>
        </p:nvSpPr>
        <p:spPr/>
        <p:txBody>
          <a:bodyPr/>
          <a:lstStyle/>
          <a:p>
            <a:fld id="{1160EA64-D806-43AC-9DF2-F8C432F32B4C}" type="datetimeFigureOut">
              <a:rPr lang="en-US" dirty="0"/>
              <a:t>12/2/2025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A7A6979-0714-4377-B894-6BE4C2D6E202}" type="slidenum">
              <a:rPr lang="en-US" dirty="0"/>
              <a:pPr/>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070A7B3-6521-4DCA-87E5-044747A908C1}" type="datetimeFigureOut">
              <a:rPr lang="en-US" dirty="0"/>
              <a:t>12/2/2025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A7A6979-0714-4377-B894-6BE4C2D6E202}"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defRPr sz="3800">
                <a:solidFill>
                  <a:srgbClr val="262626"/>
                </a:solidFill>
              </a:defRPr>
            </a:lvl1pPr>
          </a:lstStyle>
          <a:p>
            <a:r>
              <a:rPr lang="en-US"/>
              <a:t>Click to edit Master title style</a:t>
            </a:r>
            <a:endParaRPr lang="en-US" dirty="0"/>
          </a:p>
        </p:txBody>
      </p:sp>
      <p:sp>
        <p:nvSpPr>
          <p:cNvPr id="3" name="Text Placeholder 2"/>
          <p:cNvSpPr>
            <a:spLocks noGrp="1"/>
          </p:cNvSpPr>
          <p:nvPr>
            <p:ph type="body" idx="1"/>
          </p:nvPr>
        </p:nvSpPr>
        <p:spPr>
          <a:xfrm>
            <a:off x="2695194" y="4352465"/>
            <a:ext cx="6801612" cy="1265082"/>
          </a:xfrm>
        </p:spPr>
        <p:txBody>
          <a:bodyPr anchor="t" anchorCtr="1">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7" name="Date Placeholder 6"/>
          <p:cNvSpPr>
            <a:spLocks noGrp="1"/>
          </p:cNvSpPr>
          <p:nvPr>
            <p:ph type="dt" sz="half" idx="10"/>
          </p:nvPr>
        </p:nvSpPr>
        <p:spPr/>
        <p:txBody>
          <a:bodyPr/>
          <a:lstStyle/>
          <a:p>
            <a:fld id="{1160EA64-D806-43AC-9DF2-F8C432F32B4C}" type="datetimeFigureOut">
              <a:rPr lang="en-US" dirty="0"/>
              <a:t>12/2/2025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A7A6979-0714-4377-B894-6BE4C2D6E202}" type="slidenum">
              <a:rPr lang="en-US" dirty="0"/>
              <a:pPr/>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581912" y="2638044"/>
            <a:ext cx="4271771" cy="31019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38315" y="2638044"/>
            <a:ext cx="4270247" cy="31019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p:cNvSpPr>
            <a:spLocks noGrp="1"/>
          </p:cNvSpPr>
          <p:nvPr>
            <p:ph type="dt" sz="half" idx="10"/>
          </p:nvPr>
        </p:nvSpPr>
        <p:spPr/>
        <p:txBody>
          <a:bodyPr/>
          <a:lstStyle/>
          <a:p>
            <a:fld id="{AB134690-1557-4C89-A502-4959FE7FAD70}" type="datetimeFigureOut">
              <a:rPr lang="en-US" dirty="0"/>
              <a:t>12/2/2025</a:t>
            </a:fld>
            <a:endParaRPr lang="en-US" dirty="0"/>
          </a:p>
        </p:txBody>
      </p:sp>
      <p:sp>
        <p:nvSpPr>
          <p:cNvPr id="9" name="Footer Placeholder 8"/>
          <p:cNvSpPr>
            <a:spLocks noGrp="1"/>
          </p:cNvSpPr>
          <p:nvPr>
            <p:ph type="ftr" sz="quarter" idx="11"/>
          </p:nvPr>
        </p:nvSpPr>
        <p:spPr/>
        <p:txBody>
          <a:bodyPr/>
          <a:lstStyle/>
          <a:p>
            <a:endParaRPr lang="en-US" dirty="0"/>
          </a:p>
        </p:txBody>
      </p:sp>
      <p:sp>
        <p:nvSpPr>
          <p:cNvPr id="10" name="Slide Number Placeholder 9"/>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58343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583436" y="3143250"/>
            <a:ext cx="4270248" cy="25967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5"/>
          <p:cNvSpPr>
            <a:spLocks noGrp="1"/>
          </p:cNvSpPr>
          <p:nvPr>
            <p:ph sz="quarter" idx="4"/>
          </p:nvPr>
        </p:nvSpPr>
        <p:spPr>
          <a:xfrm>
            <a:off x="6338316" y="3143250"/>
            <a:ext cx="4253484" cy="2596776"/>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4"/>
          <p:cNvSpPr>
            <a:spLocks noGrp="1"/>
          </p:cNvSpPr>
          <p:nvPr>
            <p:ph type="body" sz="quarter" idx="13"/>
          </p:nvPr>
        </p:nvSpPr>
        <p:spPr>
          <a:xfrm>
            <a:off x="633831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7" name="Date Placeholder 6"/>
          <p:cNvSpPr>
            <a:spLocks noGrp="1"/>
          </p:cNvSpPr>
          <p:nvPr>
            <p:ph type="dt" sz="half" idx="10"/>
          </p:nvPr>
        </p:nvSpPr>
        <p:spPr/>
        <p:txBody>
          <a:bodyPr/>
          <a:lstStyle/>
          <a:p>
            <a:fld id="{4F7D4976-E339-4826-83B7-FBD03F55ECF8}" type="datetimeFigureOut">
              <a:rPr lang="en-US" dirty="0"/>
              <a:t>12/2/2025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A7A6979-0714-4377-B894-6BE4C2D6E202}" type="slidenum">
              <a:rPr lang="en-US" dirty="0"/>
              <a:t>‹#›</a:t>
            </a:fld>
            <a:endParaRPr lang="en-US" dirty="0"/>
          </a:p>
        </p:txBody>
      </p:sp>
      <p:sp>
        <p:nvSpPr>
          <p:cNvPr id="10" name="Title 9"/>
          <p:cNvSpPr>
            <a:spLocks noGrp="1"/>
          </p:cNvSpPr>
          <p:nvPr>
            <p:ph type="title"/>
          </p:nvPr>
        </p:nvSpPr>
        <p:spPr/>
        <p:txBody>
          <a:bodyPr/>
          <a:lstStyle/>
          <a:p>
            <a:r>
              <a:rPr lang="en-US"/>
              <a:t>Click to edit Master title style</a:t>
            </a:r>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1037C31-9E7A-4F99-8774-A0E530DE1A42}" type="datetimeFigureOut">
              <a:rPr lang="en-US" dirty="0"/>
              <a:t>12/2/2025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278504F-A551-4DE0-9316-4DCD1D8CC752}" type="datetimeFigureOut">
              <a:rPr lang="en-US" dirty="0"/>
              <a:t>12/2/2025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6" name="Rectangle 25"/>
          <p:cNvSpPr/>
          <p:nvPr/>
        </p:nvSpPr>
        <p:spPr>
          <a:xfrm>
            <a:off x="0" y="0"/>
            <a:ext cx="6096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4672" y="2243828"/>
            <a:ext cx="4486656" cy="1141497"/>
          </a:xfrm>
          <a:solidFill>
            <a:srgbClr val="FFFFFF"/>
          </a:solidFill>
          <a:ln>
            <a:solidFill>
              <a:srgbClr val="404040"/>
            </a:solidFill>
          </a:ln>
        </p:spPr>
        <p:txBody>
          <a:bodyPr anchor="ctr" anchorCtr="1">
            <a:normAutofit/>
          </a:bodyPr>
          <a:lstStyle>
            <a:lvl1pPr>
              <a:defRPr sz="2200">
                <a:solidFill>
                  <a:srgbClr val="262626"/>
                </a:solidFill>
              </a:defRPr>
            </a:lvl1pPr>
          </a:lstStyle>
          <a:p>
            <a:r>
              <a:rPr lang="en-US"/>
              <a:t>Click to edit Master title style</a:t>
            </a:r>
            <a:endParaRPr lang="en-US" dirty="0"/>
          </a:p>
        </p:txBody>
      </p:sp>
      <p:sp>
        <p:nvSpPr>
          <p:cNvPr id="3" name="Content Placeholder 2"/>
          <p:cNvSpPr>
            <a:spLocks noGrp="1"/>
          </p:cNvSpPr>
          <p:nvPr>
            <p:ph idx="1"/>
          </p:nvPr>
        </p:nvSpPr>
        <p:spPr>
          <a:xfrm>
            <a:off x="6736080" y="804672"/>
            <a:ext cx="4815840" cy="5248656"/>
          </a:xfrm>
        </p:spPr>
        <p:txBody>
          <a:bodyPr>
            <a:normAutofit/>
          </a:bodyPr>
          <a:lstStyle>
            <a:lvl1pPr>
              <a:defRPr sz="1900">
                <a:solidFill>
                  <a:schemeClr val="tx1"/>
                </a:solidFill>
              </a:defRPr>
            </a:lvl1pPr>
            <a:lvl2pPr>
              <a:defRPr sz="1600">
                <a:solidFill>
                  <a:schemeClr val="tx1"/>
                </a:solidFill>
              </a:defRPr>
            </a:lvl2pPr>
            <a:lvl3pPr>
              <a:defRPr sz="1600">
                <a:solidFill>
                  <a:schemeClr val="tx1"/>
                </a:solidFill>
              </a:defRPr>
            </a:lvl3pPr>
            <a:lvl4pPr>
              <a:defRPr sz="1600">
                <a:solidFill>
                  <a:schemeClr val="tx1"/>
                </a:solidFill>
              </a:defRPr>
            </a:lvl4pPr>
            <a:lvl5pPr>
              <a:defRPr sz="1600">
                <a:solidFill>
                  <a:schemeClr val="tx1"/>
                </a:solidFill>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15568" y="3549918"/>
            <a:ext cx="3794760" cy="2194036"/>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Date Placeholder 8"/>
          <p:cNvSpPr>
            <a:spLocks noGrp="1"/>
          </p:cNvSpPr>
          <p:nvPr>
            <p:ph type="dt" sz="half" idx="10"/>
          </p:nvPr>
        </p:nvSpPr>
        <p:spPr/>
        <p:txBody>
          <a:bodyPr/>
          <a:lstStyle/>
          <a:p>
            <a:fld id="{D1BE4249-C0D0-4B06-8692-E8BB871AF643}" type="datetimeFigureOut">
              <a:rPr lang="en-US" dirty="0"/>
              <a:t>12/2/2025</a:t>
            </a:fld>
            <a:endParaRPr lang="en-US" dirty="0"/>
          </a:p>
        </p:txBody>
      </p:sp>
      <p:sp>
        <p:nvSpPr>
          <p:cNvPr id="10" name="Footer Placeholder 9"/>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US" dirty="0"/>
          </a:p>
        </p:txBody>
      </p:sp>
      <p:sp>
        <p:nvSpPr>
          <p:cNvPr id="11" name="Slide Number Placeholder 10"/>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8" name="Rectangle 17"/>
          <p:cNvSpPr/>
          <p:nvPr/>
        </p:nvSpPr>
        <p:spPr>
          <a:xfrm>
            <a:off x="0" y="0"/>
            <a:ext cx="6095999"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8523" y="2243828"/>
            <a:ext cx="4494998" cy="1134640"/>
          </a:xfrm>
          <a:solidFill>
            <a:srgbClr val="FFFFFF"/>
          </a:solidFill>
          <a:ln>
            <a:solidFill>
              <a:srgbClr val="404040"/>
            </a:solidFill>
          </a:ln>
        </p:spPr>
        <p:txBody>
          <a:bodyPr anchor="ctr" anchorCtr="1">
            <a:noAutofit/>
          </a:bodyPr>
          <a:lstStyle>
            <a:lvl1pPr>
              <a:defRPr sz="2200">
                <a:solidFill>
                  <a:srgbClr val="262626"/>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6095999" y="0"/>
            <a:ext cx="6102097" cy="6858000"/>
          </a:xfrm>
          <a:solidFill>
            <a:schemeClr val="bg1">
              <a:lumMod val="75000"/>
            </a:schemeClr>
          </a:solidFill>
        </p:spPr>
        <p:txBody>
          <a:bodyPr anchor="t"/>
          <a:lstStyle>
            <a:lvl1pPr marL="0" indent="0">
              <a:buNone/>
              <a:defRPr sz="3200">
                <a:solidFill>
                  <a:schemeClr val="bg1">
                    <a:lumMod val="85000"/>
                    <a:lumOff val="15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15568" y="3549918"/>
            <a:ext cx="3794760" cy="2194037"/>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8" name="Date Placeholder 7"/>
          <p:cNvSpPr>
            <a:spLocks noGrp="1"/>
          </p:cNvSpPr>
          <p:nvPr>
            <p:ph type="dt" sz="half" idx="10"/>
          </p:nvPr>
        </p:nvSpPr>
        <p:spPr/>
        <p:txBody>
          <a:bodyPr/>
          <a:lstStyle>
            <a:lvl1pPr>
              <a:defRPr>
                <a:solidFill>
                  <a:srgbClr val="FFFFFF"/>
                </a:solidFill>
                <a:effectLst>
                  <a:outerShdw blurRad="50800" dist="38100" dir="2700000" algn="tl" rotWithShape="0">
                    <a:prstClr val="black">
                      <a:alpha val="43000"/>
                    </a:prstClr>
                  </a:outerShdw>
                </a:effectLst>
              </a:defRPr>
            </a:lvl1pPr>
          </a:lstStyle>
          <a:p>
            <a:fld id="{042B0DB6-F5C7-45FB-8CF3-31B45F9C2DAC}" type="datetimeFigureOut">
              <a:rPr lang="en-US" dirty="0"/>
              <a:t>12/2/2025</a:t>
            </a:fld>
            <a:endParaRPr lang="en-US" dirty="0"/>
          </a:p>
        </p:txBody>
      </p:sp>
      <p:sp>
        <p:nvSpPr>
          <p:cNvPr id="9" name="Footer Placeholder 8"/>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US" dirty="0"/>
          </a:p>
        </p:txBody>
      </p:sp>
      <p:sp>
        <p:nvSpPr>
          <p:cNvPr id="10" name="Slide Number Placeholder 9"/>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9F9C37B-1D36-470B-8223-D6C91242EC14}" type="datetimeFigureOut">
              <a:rPr lang="en-US" dirty="0"/>
              <a:t>12/2/2025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53112" y="937260"/>
            <a:ext cx="1298608" cy="498348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231136" y="937260"/>
            <a:ext cx="6198489" cy="498348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7C6F52A-A82B-47A2-A83A-8C4C91F2D59F}" type="datetimeFigureOut">
              <a:rPr lang="en-US" dirty="0"/>
              <a:t>12/2/2025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bwMode="black">
          <a:xfrm>
            <a:off x="2231136" y="964692"/>
            <a:ext cx="7729728" cy="1188720"/>
          </a:xfrm>
          <a:prstGeom prst="rect">
            <a:avLst/>
          </a:prstGeom>
          <a:solidFill>
            <a:srgbClr val="FFFFFF"/>
          </a:solidFill>
          <a:ln w="31750" cap="sq">
            <a:solidFill>
              <a:srgbClr val="404040"/>
            </a:solidFill>
            <a:miter lim="800000"/>
          </a:ln>
        </p:spPr>
        <p:txBody>
          <a:bodyPr vert="horz" lIns="182880" tIns="182880" rIns="182880" bIns="18288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231136" y="2638044"/>
            <a:ext cx="7729728" cy="310198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821429" y="6238816"/>
            <a:ext cx="2753746" cy="323968"/>
          </a:xfrm>
          <a:prstGeom prst="rect">
            <a:avLst/>
          </a:prstGeom>
        </p:spPr>
        <p:txBody>
          <a:bodyPr vert="horz" lIns="91440" tIns="45720" rIns="91440" bIns="45720" rtlCol="0" anchor="ctr"/>
          <a:lstStyle>
            <a:lvl1pPr algn="r">
              <a:defRPr sz="1050">
                <a:solidFill>
                  <a:schemeClr val="tx1">
                    <a:alpha val="70000"/>
                  </a:schemeClr>
                </a:solidFill>
              </a:defRPr>
            </a:lvl1pPr>
          </a:lstStyle>
          <a:p>
            <a:fld id="{1160EA64-D806-43AC-9DF2-F8C432F32B4C}" type="datetimeFigureOut">
              <a:rPr lang="en-US" dirty="0"/>
              <a:t>12/2/2025</a:t>
            </a:fld>
            <a:endParaRPr lang="en-US" dirty="0"/>
          </a:p>
        </p:txBody>
      </p:sp>
      <p:sp>
        <p:nvSpPr>
          <p:cNvPr id="5" name="Footer Placeholder 4"/>
          <p:cNvSpPr>
            <a:spLocks noGrp="1"/>
          </p:cNvSpPr>
          <p:nvPr>
            <p:ph type="ftr" sz="quarter" idx="3"/>
          </p:nvPr>
        </p:nvSpPr>
        <p:spPr>
          <a:xfrm>
            <a:off x="1600200" y="6236208"/>
            <a:ext cx="5901189" cy="320040"/>
          </a:xfrm>
          <a:prstGeom prst="rect">
            <a:avLst/>
          </a:prstGeom>
        </p:spPr>
        <p:txBody>
          <a:bodyPr vert="horz" lIns="91440" tIns="45720" rIns="91440" bIns="45720" rtlCol="0" anchor="ctr"/>
          <a:lstStyle>
            <a:lvl1pPr algn="l">
              <a:defRPr sz="1050">
                <a:solidFill>
                  <a:schemeClr val="tx1">
                    <a:alpha val="70000"/>
                  </a:schemeClr>
                </a:solidFill>
              </a:defRPr>
            </a:lvl1pPr>
          </a:lstStyle>
          <a:p>
            <a:endParaRPr lang="en-US" dirty="0"/>
          </a:p>
        </p:txBody>
      </p:sp>
      <p:sp>
        <p:nvSpPr>
          <p:cNvPr id="6" name="Slide Number Placeholder 5"/>
          <p:cNvSpPr>
            <a:spLocks noGrp="1"/>
          </p:cNvSpPr>
          <p:nvPr>
            <p:ph type="sldNum" sz="quarter" idx="4"/>
          </p:nvPr>
        </p:nvSpPr>
        <p:spPr>
          <a:xfrm>
            <a:off x="10758922" y="6217920"/>
            <a:ext cx="365760" cy="365760"/>
          </a:xfrm>
          <a:prstGeom prst="ellipse">
            <a:avLst/>
          </a:prstGeom>
          <a:solidFill>
            <a:srgbClr val="1D1D1D">
              <a:alpha val="70000"/>
            </a:srgbClr>
          </a:solidFill>
        </p:spPr>
        <p:txBody>
          <a:bodyPr vert="horz" lIns="18288" tIns="45720" rIns="18288" bIns="45720" rtlCol="0" anchor="ctr">
            <a:noAutofit/>
          </a:bodyPr>
          <a:lstStyle>
            <a:lvl1pPr algn="ctr">
              <a:defRPr sz="1100" spc="0" baseline="0">
                <a:solidFill>
                  <a:srgbClr val="FFFFFF"/>
                </a:solidFill>
              </a:defRPr>
            </a:lvl1pPr>
          </a:lstStyle>
          <a:p>
            <a:fld id="{8A7A6979-0714-4377-B894-6BE4C2D6E202}"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hf sldNum="0" hdr="0" ftr="0" dt="0"/>
  <p:txStyles>
    <p:titleStyle>
      <a:lvl1pPr algn="ctr" defTabSz="914400" rtl="0" eaLnBrk="1" latinLnBrk="0" hangingPunct="1">
        <a:lnSpc>
          <a:spcPct val="90000"/>
        </a:lnSpc>
        <a:spcBef>
          <a:spcPct val="0"/>
        </a:spcBef>
        <a:buNone/>
        <a:defRPr sz="2800" kern="1200" cap="all" spc="200" baseline="0">
          <a:solidFill>
            <a:srgbClr val="262626"/>
          </a:solidFill>
          <a:latin typeface="+mj-lt"/>
          <a:ea typeface="+mj-ea"/>
          <a:cs typeface="+mj-cs"/>
        </a:defRPr>
      </a:lvl1pPr>
    </p:titleStyle>
    <p:body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B46A27-82CE-B778-6614-A2957D6E6880}"/>
              </a:ext>
            </a:extLst>
          </p:cNvPr>
          <p:cNvSpPr>
            <a:spLocks noGrp="1"/>
          </p:cNvSpPr>
          <p:nvPr>
            <p:ph type="ctrTitle"/>
          </p:nvPr>
        </p:nvSpPr>
        <p:spPr/>
        <p:txBody>
          <a:bodyPr/>
          <a:lstStyle/>
          <a:p>
            <a:r>
              <a:rPr lang="en-US" dirty="0"/>
              <a:t>Healthcare Provider Fraud Detection</a:t>
            </a:r>
          </a:p>
        </p:txBody>
      </p:sp>
      <p:sp>
        <p:nvSpPr>
          <p:cNvPr id="3" name="Subtitle 2">
            <a:extLst>
              <a:ext uri="{FF2B5EF4-FFF2-40B4-BE49-F238E27FC236}">
                <a16:creationId xmlns:a16="http://schemas.microsoft.com/office/drawing/2014/main" id="{BCBF71B5-4725-9A21-297D-3AB03CBE2061}"/>
              </a:ext>
            </a:extLst>
          </p:cNvPr>
          <p:cNvSpPr>
            <a:spLocks noGrp="1"/>
          </p:cNvSpPr>
          <p:nvPr>
            <p:ph type="subTitle" idx="1"/>
          </p:nvPr>
        </p:nvSpPr>
        <p:spPr/>
        <p:txBody>
          <a:bodyPr>
            <a:normAutofit/>
          </a:bodyPr>
          <a:lstStyle/>
          <a:p>
            <a:r>
              <a:rPr lang="en-US" dirty="0"/>
              <a:t>A Data Orbit project for detecting fraudulent healthcare providers</a:t>
            </a:r>
          </a:p>
        </p:txBody>
      </p:sp>
    </p:spTree>
    <p:extLst>
      <p:ext uri="{BB962C8B-B14F-4D97-AF65-F5344CB8AC3E}">
        <p14:creationId xmlns:p14="http://schemas.microsoft.com/office/powerpoint/2010/main" val="31354720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1F90E7-264D-AFE2-DC10-D2D94E50CDFC}"/>
              </a:ext>
            </a:extLst>
          </p:cNvPr>
          <p:cNvSpPr>
            <a:spLocks noGrp="1"/>
          </p:cNvSpPr>
          <p:nvPr>
            <p:ph type="title"/>
          </p:nvPr>
        </p:nvSpPr>
        <p:spPr/>
        <p:txBody>
          <a:bodyPr/>
          <a:lstStyle/>
          <a:p>
            <a:r>
              <a:rPr lang="en-US" dirty="0"/>
              <a:t>Problem Overview</a:t>
            </a:r>
          </a:p>
        </p:txBody>
      </p:sp>
      <p:sp>
        <p:nvSpPr>
          <p:cNvPr id="3" name="Content Placeholder 2">
            <a:extLst>
              <a:ext uri="{FF2B5EF4-FFF2-40B4-BE49-F238E27FC236}">
                <a16:creationId xmlns:a16="http://schemas.microsoft.com/office/drawing/2014/main" id="{92693B43-3B5E-7AFA-C43A-21CDE9591301}"/>
              </a:ext>
            </a:extLst>
          </p:cNvPr>
          <p:cNvSpPr>
            <a:spLocks noGrp="1"/>
          </p:cNvSpPr>
          <p:nvPr>
            <p:ph idx="1"/>
          </p:nvPr>
        </p:nvSpPr>
        <p:spPr/>
        <p:txBody>
          <a:bodyPr/>
          <a:lstStyle/>
          <a:p>
            <a:r>
              <a:rPr lang="en-US" dirty="0"/>
              <a:t> -Fraudulent healthcare providers cost the U.S. Medicare system over $68 billion annually.</a:t>
            </a:r>
          </a:p>
          <a:p>
            <a:r>
              <a:rPr lang="en-US" dirty="0"/>
              <a:t>- Identifying fraudulent providers is critical to reducing these losses and maintaining the quality of healthcare services.</a:t>
            </a:r>
          </a:p>
          <a:p>
            <a:endParaRPr lang="en-US" dirty="0"/>
          </a:p>
        </p:txBody>
      </p:sp>
    </p:spTree>
    <p:extLst>
      <p:ext uri="{BB962C8B-B14F-4D97-AF65-F5344CB8AC3E}">
        <p14:creationId xmlns:p14="http://schemas.microsoft.com/office/powerpoint/2010/main" val="3332753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B11491-499B-78DD-E413-15AB7E312748}"/>
              </a:ext>
            </a:extLst>
          </p:cNvPr>
          <p:cNvSpPr>
            <a:spLocks noGrp="1"/>
          </p:cNvSpPr>
          <p:nvPr>
            <p:ph type="title"/>
          </p:nvPr>
        </p:nvSpPr>
        <p:spPr/>
        <p:txBody>
          <a:bodyPr/>
          <a:lstStyle/>
          <a:p>
            <a:r>
              <a:rPr lang="en-US" dirty="0"/>
              <a:t>Project Objective</a:t>
            </a:r>
          </a:p>
        </p:txBody>
      </p:sp>
      <p:sp>
        <p:nvSpPr>
          <p:cNvPr id="3" name="Content Placeholder 2">
            <a:extLst>
              <a:ext uri="{FF2B5EF4-FFF2-40B4-BE49-F238E27FC236}">
                <a16:creationId xmlns:a16="http://schemas.microsoft.com/office/drawing/2014/main" id="{BD3BC1D4-5B89-311F-3CDA-5D1C61E2ADF7}"/>
              </a:ext>
            </a:extLst>
          </p:cNvPr>
          <p:cNvSpPr>
            <a:spLocks noGrp="1"/>
          </p:cNvSpPr>
          <p:nvPr>
            <p:ph idx="1"/>
          </p:nvPr>
        </p:nvSpPr>
        <p:spPr/>
        <p:txBody>
          <a:bodyPr/>
          <a:lstStyle/>
          <a:p>
            <a:r>
              <a:rPr lang="en-US" dirty="0"/>
              <a:t>- Build a machine learning model to detect fraudulent healthcare providers using claims data.</a:t>
            </a:r>
          </a:p>
          <a:p>
            <a:r>
              <a:rPr lang="en-US" dirty="0"/>
              <a:t>- Ensure explainability and minimize false positives to avoid unnecessary investigations.</a:t>
            </a:r>
            <a:br>
              <a:rPr lang="en-US" dirty="0"/>
            </a:br>
            <a:endParaRPr lang="en-US" dirty="0"/>
          </a:p>
          <a:p>
            <a:r>
              <a:rPr lang="en-US" b="1" dirty="0"/>
              <a:t>Goal:</a:t>
            </a:r>
            <a:br>
              <a:rPr lang="en-US" dirty="0"/>
            </a:br>
            <a:r>
              <a:rPr lang="en-US" dirty="0"/>
              <a:t> To detect fraudulent providers and prioritize high-risk cases for CMS (Centers for Medicare and Medicaid Services).</a:t>
            </a:r>
          </a:p>
        </p:txBody>
      </p:sp>
    </p:spTree>
    <p:extLst>
      <p:ext uri="{BB962C8B-B14F-4D97-AF65-F5344CB8AC3E}">
        <p14:creationId xmlns:p14="http://schemas.microsoft.com/office/powerpoint/2010/main" val="6804411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1BA45A-002B-D914-82CC-02234C8D4164}"/>
              </a:ext>
            </a:extLst>
          </p:cNvPr>
          <p:cNvSpPr>
            <a:spLocks noGrp="1"/>
          </p:cNvSpPr>
          <p:nvPr>
            <p:ph type="title"/>
          </p:nvPr>
        </p:nvSpPr>
        <p:spPr/>
        <p:txBody>
          <a:bodyPr/>
          <a:lstStyle/>
          <a:p>
            <a:r>
              <a:rPr lang="en-US" dirty="0"/>
              <a:t>Data Understanding</a:t>
            </a:r>
          </a:p>
        </p:txBody>
      </p:sp>
      <p:sp>
        <p:nvSpPr>
          <p:cNvPr id="3" name="Content Placeholder 2">
            <a:extLst>
              <a:ext uri="{FF2B5EF4-FFF2-40B4-BE49-F238E27FC236}">
                <a16:creationId xmlns:a16="http://schemas.microsoft.com/office/drawing/2014/main" id="{9110DE58-10DA-306B-5F9A-05F79BEB5C77}"/>
              </a:ext>
            </a:extLst>
          </p:cNvPr>
          <p:cNvSpPr>
            <a:spLocks noGrp="1"/>
          </p:cNvSpPr>
          <p:nvPr>
            <p:ph idx="1"/>
          </p:nvPr>
        </p:nvSpPr>
        <p:spPr>
          <a:xfrm>
            <a:off x="1356189" y="2638044"/>
            <a:ext cx="9431675" cy="4112077"/>
          </a:xfrm>
        </p:spPr>
        <p:txBody>
          <a:bodyPr>
            <a:noAutofit/>
          </a:bodyPr>
          <a:lstStyle/>
          <a:p>
            <a:r>
              <a:rPr lang="en-US" sz="1600" dirty="0"/>
              <a:t> </a:t>
            </a:r>
            <a:r>
              <a:rPr lang="en-US" sz="1600" b="1" dirty="0"/>
              <a:t>Datasets Used:</a:t>
            </a:r>
          </a:p>
          <a:p>
            <a:r>
              <a:rPr lang="en-US" sz="1600" dirty="0"/>
              <a:t>1. **Train_Beneficiarydata.csv**: Contains demographics, coverage, and chronic conditions for Medicare beneficiaries.</a:t>
            </a:r>
          </a:p>
          <a:p>
            <a:r>
              <a:rPr lang="en-US" sz="1600" dirty="0"/>
              <a:t>2. **Train_Inpatientdata.csv**: Hospital admission claims with financial, procedural, and physician details.</a:t>
            </a:r>
          </a:p>
          <a:p>
            <a:r>
              <a:rPr lang="en-US" sz="1600" dirty="0"/>
              <a:t>3. **Train_Outpatientdata.csv**: Outpatient claim data (visits, tests, minor procedures).</a:t>
            </a:r>
          </a:p>
          <a:p>
            <a:r>
              <a:rPr lang="en-US" sz="1600" dirty="0"/>
              <a:t>4. **Train_labels.csv**: Fraud labels (fraudulent or non-fraudulent) for healthcare providers.</a:t>
            </a:r>
          </a:p>
          <a:p>
            <a:endParaRPr lang="en-US" sz="1600" dirty="0"/>
          </a:p>
          <a:p>
            <a:r>
              <a:rPr lang="en-US" sz="1600" b="1" dirty="0"/>
              <a:t> Data Quality:</a:t>
            </a:r>
          </a:p>
          <a:p>
            <a:r>
              <a:rPr lang="en-US" sz="1600" dirty="0"/>
              <a:t>- Missing values were imputed.</a:t>
            </a:r>
          </a:p>
          <a:p>
            <a:r>
              <a:rPr lang="en-US" sz="1600" dirty="0"/>
              <a:t>- Inconsistent data entries (incorrect provider IDs) were cleaned and standardized.</a:t>
            </a:r>
          </a:p>
          <a:p>
            <a:r>
              <a:rPr lang="en-US" sz="1600" dirty="0"/>
              <a:t>- Datasets from different sources were merged, ensuring consistency in granularity and provider information.</a:t>
            </a:r>
          </a:p>
        </p:txBody>
      </p:sp>
    </p:spTree>
    <p:extLst>
      <p:ext uri="{BB962C8B-B14F-4D97-AF65-F5344CB8AC3E}">
        <p14:creationId xmlns:p14="http://schemas.microsoft.com/office/powerpoint/2010/main" val="9721499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48C716-7F0A-65B5-B032-AD5DC5536473}"/>
              </a:ext>
            </a:extLst>
          </p:cNvPr>
          <p:cNvSpPr>
            <a:spLocks noGrp="1"/>
          </p:cNvSpPr>
          <p:nvPr>
            <p:ph type="title"/>
          </p:nvPr>
        </p:nvSpPr>
        <p:spPr>
          <a:xfrm>
            <a:off x="2231136" y="224952"/>
            <a:ext cx="7729728" cy="1188720"/>
          </a:xfrm>
        </p:spPr>
        <p:txBody>
          <a:bodyPr/>
          <a:lstStyle/>
          <a:p>
            <a:r>
              <a:rPr lang="en-US" dirty="0"/>
              <a:t>Exploratory Data Analysis (EDA)</a:t>
            </a:r>
          </a:p>
        </p:txBody>
      </p:sp>
      <p:sp>
        <p:nvSpPr>
          <p:cNvPr id="3" name="Content Placeholder 2">
            <a:extLst>
              <a:ext uri="{FF2B5EF4-FFF2-40B4-BE49-F238E27FC236}">
                <a16:creationId xmlns:a16="http://schemas.microsoft.com/office/drawing/2014/main" id="{B54EDD5C-2FC0-A9A0-CC45-17EAF459622D}"/>
              </a:ext>
            </a:extLst>
          </p:cNvPr>
          <p:cNvSpPr>
            <a:spLocks noGrp="1"/>
          </p:cNvSpPr>
          <p:nvPr>
            <p:ph idx="1"/>
          </p:nvPr>
        </p:nvSpPr>
        <p:spPr>
          <a:xfrm>
            <a:off x="1160979" y="1754467"/>
            <a:ext cx="10695397" cy="4954558"/>
          </a:xfrm>
        </p:spPr>
        <p:txBody>
          <a:bodyPr>
            <a:noAutofit/>
          </a:bodyPr>
          <a:lstStyle/>
          <a:p>
            <a:r>
              <a:rPr lang="en-US" b="1" dirty="0"/>
              <a:t>Key Insights from EDA:</a:t>
            </a:r>
            <a:endParaRPr lang="en-US" sz="1600" dirty="0"/>
          </a:p>
          <a:p>
            <a:r>
              <a:rPr lang="en-US" sz="1600" dirty="0"/>
              <a:t>• Imbalanced Data: Only around 10% of providers are fraudulent, which makes the problem harder.</a:t>
            </a:r>
          </a:p>
          <a:p>
            <a:r>
              <a:rPr lang="en-US" sz="1600" dirty="0"/>
              <a:t>• Fraud vs Non-Fraud Providers: Fraudulent providers show different behavior:</a:t>
            </a:r>
          </a:p>
          <a:p>
            <a:r>
              <a:rPr lang="en-US" sz="1600" dirty="0"/>
              <a:t>   – Higher claim amounts</a:t>
            </a:r>
          </a:p>
          <a:p>
            <a:r>
              <a:rPr lang="en-US" sz="1600" dirty="0"/>
              <a:t>   – More procedures per visit</a:t>
            </a:r>
          </a:p>
          <a:p>
            <a:r>
              <a:rPr lang="en-US" sz="1600" dirty="0"/>
              <a:t>   – More claims overall</a:t>
            </a:r>
          </a:p>
          <a:p>
            <a:r>
              <a:rPr lang="en-US" sz="1600" dirty="0"/>
              <a:t>• Patterns Linked to Fraud: Certain behaviors (such as high costs and many procedures) were strongly linked to the likelihood of fraud.</a:t>
            </a:r>
          </a:p>
          <a:p>
            <a:endParaRPr lang="en-US" sz="300" dirty="0"/>
          </a:p>
          <a:p>
            <a:r>
              <a:rPr lang="en-US" b="1" dirty="0"/>
              <a:t>Visuals:</a:t>
            </a:r>
          </a:p>
          <a:p>
            <a:r>
              <a:rPr lang="en-US" sz="1600" dirty="0"/>
              <a:t>- Fraud vs Non-Fraud Providers: Bar chart to show the distribution of fraudulent vs non-fraudulent providers.</a:t>
            </a:r>
          </a:p>
          <a:p>
            <a:r>
              <a:rPr lang="en-US" sz="1600" dirty="0"/>
              <a:t>- Claim Amount Distribution: Box plot to compare inpatient vs outpatient claims.</a:t>
            </a:r>
          </a:p>
          <a:p>
            <a:r>
              <a:rPr lang="en-US" sz="1600" dirty="0"/>
              <a:t>-Claims per Provider: Histogram showing the number of claims per provider.</a:t>
            </a:r>
          </a:p>
          <a:p>
            <a:endParaRPr lang="en-US" sz="1600" dirty="0"/>
          </a:p>
          <a:p>
            <a:endParaRPr lang="en-US" sz="1600" dirty="0"/>
          </a:p>
        </p:txBody>
      </p:sp>
    </p:spTree>
    <p:extLst>
      <p:ext uri="{BB962C8B-B14F-4D97-AF65-F5344CB8AC3E}">
        <p14:creationId xmlns:p14="http://schemas.microsoft.com/office/powerpoint/2010/main" val="42196825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0C2A17-0FE6-F1EA-D0C7-9CFA52E37A6D}"/>
              </a:ext>
            </a:extLst>
          </p:cNvPr>
          <p:cNvSpPr>
            <a:spLocks noGrp="1"/>
          </p:cNvSpPr>
          <p:nvPr>
            <p:ph type="title"/>
          </p:nvPr>
        </p:nvSpPr>
        <p:spPr/>
        <p:txBody>
          <a:bodyPr/>
          <a:lstStyle/>
          <a:p>
            <a:r>
              <a:rPr lang="en-US" sz="2400" dirty="0"/>
              <a:t>Fraud vs Non-Fraud Providers</a:t>
            </a:r>
            <a:endParaRPr lang="en-US" dirty="0"/>
          </a:p>
        </p:txBody>
      </p:sp>
      <p:sp>
        <p:nvSpPr>
          <p:cNvPr id="8" name="Picture Placeholder 7">
            <a:extLst>
              <a:ext uri="{FF2B5EF4-FFF2-40B4-BE49-F238E27FC236}">
                <a16:creationId xmlns:a16="http://schemas.microsoft.com/office/drawing/2014/main" id="{354E50C3-49E6-1CF8-8A1D-45F35726C37A}"/>
              </a:ext>
            </a:extLst>
          </p:cNvPr>
          <p:cNvSpPr>
            <a:spLocks noGrp="1"/>
          </p:cNvSpPr>
          <p:nvPr>
            <p:ph type="pic" idx="1"/>
          </p:nvPr>
        </p:nvSpPr>
        <p:spPr/>
      </p:sp>
      <p:pic>
        <p:nvPicPr>
          <p:cNvPr id="10" name="Picture 9">
            <a:extLst>
              <a:ext uri="{FF2B5EF4-FFF2-40B4-BE49-F238E27FC236}">
                <a16:creationId xmlns:a16="http://schemas.microsoft.com/office/drawing/2014/main" id="{DCB9FAEE-2D31-C132-FB25-84D08B8AFD3A}"/>
              </a:ext>
            </a:extLst>
          </p:cNvPr>
          <p:cNvPicPr>
            <a:picLocks noChangeAspect="1"/>
          </p:cNvPicPr>
          <p:nvPr/>
        </p:nvPicPr>
        <p:blipFill>
          <a:blip r:embed="rId2"/>
          <a:stretch>
            <a:fillRect/>
          </a:stretch>
        </p:blipFill>
        <p:spPr>
          <a:xfrm>
            <a:off x="6241772" y="1050777"/>
            <a:ext cx="5810549" cy="4407126"/>
          </a:xfrm>
          <a:prstGeom prst="rect">
            <a:avLst/>
          </a:prstGeom>
        </p:spPr>
      </p:pic>
    </p:spTree>
    <p:extLst>
      <p:ext uri="{BB962C8B-B14F-4D97-AF65-F5344CB8AC3E}">
        <p14:creationId xmlns:p14="http://schemas.microsoft.com/office/powerpoint/2010/main" val="33332805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33C863-2052-8BCB-EDD8-A6EBF995A5A4}"/>
              </a:ext>
            </a:extLst>
          </p:cNvPr>
          <p:cNvSpPr>
            <a:spLocks noGrp="1"/>
          </p:cNvSpPr>
          <p:nvPr>
            <p:ph type="title"/>
          </p:nvPr>
        </p:nvSpPr>
        <p:spPr/>
        <p:txBody>
          <a:bodyPr/>
          <a:lstStyle/>
          <a:p>
            <a:r>
              <a:rPr lang="en-US" sz="2400" dirty="0"/>
              <a:t>Claim Amount Distribution</a:t>
            </a:r>
            <a:endParaRPr lang="en-US" dirty="0"/>
          </a:p>
        </p:txBody>
      </p:sp>
      <p:sp>
        <p:nvSpPr>
          <p:cNvPr id="3" name="Picture Placeholder 2">
            <a:extLst>
              <a:ext uri="{FF2B5EF4-FFF2-40B4-BE49-F238E27FC236}">
                <a16:creationId xmlns:a16="http://schemas.microsoft.com/office/drawing/2014/main" id="{32945914-8854-33C5-E145-297299E88FC0}"/>
              </a:ext>
            </a:extLst>
          </p:cNvPr>
          <p:cNvSpPr>
            <a:spLocks noGrp="1"/>
          </p:cNvSpPr>
          <p:nvPr>
            <p:ph type="pic" idx="1"/>
          </p:nvPr>
        </p:nvSpPr>
        <p:spPr/>
      </p:sp>
      <p:pic>
        <p:nvPicPr>
          <p:cNvPr id="6" name="Picture 5">
            <a:extLst>
              <a:ext uri="{FF2B5EF4-FFF2-40B4-BE49-F238E27FC236}">
                <a16:creationId xmlns:a16="http://schemas.microsoft.com/office/drawing/2014/main" id="{3C65297D-2FD1-E408-A2CE-E13F92FAA41E}"/>
              </a:ext>
            </a:extLst>
          </p:cNvPr>
          <p:cNvPicPr>
            <a:picLocks noChangeAspect="1"/>
          </p:cNvPicPr>
          <p:nvPr/>
        </p:nvPicPr>
        <p:blipFill>
          <a:blip r:embed="rId2"/>
          <a:stretch>
            <a:fillRect/>
          </a:stretch>
        </p:blipFill>
        <p:spPr>
          <a:xfrm>
            <a:off x="6397345" y="1333726"/>
            <a:ext cx="5695338" cy="4089484"/>
          </a:xfrm>
          <a:prstGeom prst="rect">
            <a:avLst/>
          </a:prstGeom>
        </p:spPr>
      </p:pic>
    </p:spTree>
    <p:extLst>
      <p:ext uri="{BB962C8B-B14F-4D97-AF65-F5344CB8AC3E}">
        <p14:creationId xmlns:p14="http://schemas.microsoft.com/office/powerpoint/2010/main" val="24209912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C56E69-7281-5473-8D5B-46682ED1A06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CD90A48-40EA-DF2F-EF35-95A82D04FA8A}"/>
              </a:ext>
            </a:extLst>
          </p:cNvPr>
          <p:cNvSpPr>
            <a:spLocks noGrp="1"/>
          </p:cNvSpPr>
          <p:nvPr>
            <p:ph type="title"/>
          </p:nvPr>
        </p:nvSpPr>
        <p:spPr/>
        <p:txBody>
          <a:bodyPr/>
          <a:lstStyle/>
          <a:p>
            <a:r>
              <a:rPr lang="en-US" sz="2400" dirty="0"/>
              <a:t>Claim Amount Distribution</a:t>
            </a:r>
            <a:endParaRPr lang="en-US" dirty="0"/>
          </a:p>
        </p:txBody>
      </p:sp>
      <p:sp>
        <p:nvSpPr>
          <p:cNvPr id="3" name="Picture Placeholder 2">
            <a:extLst>
              <a:ext uri="{FF2B5EF4-FFF2-40B4-BE49-F238E27FC236}">
                <a16:creationId xmlns:a16="http://schemas.microsoft.com/office/drawing/2014/main" id="{A58F3067-528C-DF31-360F-11D4EAB35DFE}"/>
              </a:ext>
            </a:extLst>
          </p:cNvPr>
          <p:cNvSpPr>
            <a:spLocks noGrp="1"/>
          </p:cNvSpPr>
          <p:nvPr>
            <p:ph type="pic" idx="1"/>
          </p:nvPr>
        </p:nvSpPr>
        <p:spPr/>
      </p:sp>
      <p:pic>
        <p:nvPicPr>
          <p:cNvPr id="7" name="Picture 6">
            <a:extLst>
              <a:ext uri="{FF2B5EF4-FFF2-40B4-BE49-F238E27FC236}">
                <a16:creationId xmlns:a16="http://schemas.microsoft.com/office/drawing/2014/main" id="{31300156-0747-D115-3904-A6241745E30C}"/>
              </a:ext>
            </a:extLst>
          </p:cNvPr>
          <p:cNvPicPr>
            <a:picLocks noChangeAspect="1"/>
          </p:cNvPicPr>
          <p:nvPr/>
        </p:nvPicPr>
        <p:blipFill>
          <a:blip r:embed="rId2"/>
          <a:stretch>
            <a:fillRect/>
          </a:stretch>
        </p:blipFill>
        <p:spPr>
          <a:xfrm>
            <a:off x="6292392" y="1423788"/>
            <a:ext cx="5678511" cy="3909360"/>
          </a:xfrm>
          <a:prstGeom prst="rect">
            <a:avLst/>
          </a:prstGeom>
        </p:spPr>
      </p:pic>
    </p:spTree>
    <p:extLst>
      <p:ext uri="{BB962C8B-B14F-4D97-AF65-F5344CB8AC3E}">
        <p14:creationId xmlns:p14="http://schemas.microsoft.com/office/powerpoint/2010/main" val="25398114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AFD67F-CC92-7446-83CB-DA43E661DA82}"/>
              </a:ext>
            </a:extLst>
          </p:cNvPr>
          <p:cNvSpPr>
            <a:spLocks noGrp="1"/>
          </p:cNvSpPr>
          <p:nvPr>
            <p:ph type="title"/>
          </p:nvPr>
        </p:nvSpPr>
        <p:spPr/>
        <p:txBody>
          <a:bodyPr/>
          <a:lstStyle/>
          <a:p>
            <a:r>
              <a:rPr lang="en-US" sz="2400" dirty="0"/>
              <a:t>Claims per Provider</a:t>
            </a:r>
            <a:endParaRPr lang="en-US" dirty="0"/>
          </a:p>
        </p:txBody>
      </p:sp>
      <p:sp>
        <p:nvSpPr>
          <p:cNvPr id="3" name="Picture Placeholder 2">
            <a:extLst>
              <a:ext uri="{FF2B5EF4-FFF2-40B4-BE49-F238E27FC236}">
                <a16:creationId xmlns:a16="http://schemas.microsoft.com/office/drawing/2014/main" id="{DE4BA2D5-B593-8AB1-354C-D46D210DF01A}"/>
              </a:ext>
            </a:extLst>
          </p:cNvPr>
          <p:cNvSpPr>
            <a:spLocks noGrp="1"/>
          </p:cNvSpPr>
          <p:nvPr>
            <p:ph type="pic" idx="1"/>
          </p:nvPr>
        </p:nvSpPr>
        <p:spPr/>
      </p:sp>
      <p:pic>
        <p:nvPicPr>
          <p:cNvPr id="6" name="Picture 5">
            <a:extLst>
              <a:ext uri="{FF2B5EF4-FFF2-40B4-BE49-F238E27FC236}">
                <a16:creationId xmlns:a16="http://schemas.microsoft.com/office/drawing/2014/main" id="{28F61701-E646-3DF7-E378-EE99B7CD20F7}"/>
              </a:ext>
            </a:extLst>
          </p:cNvPr>
          <p:cNvPicPr>
            <a:picLocks noChangeAspect="1"/>
          </p:cNvPicPr>
          <p:nvPr/>
        </p:nvPicPr>
        <p:blipFill>
          <a:blip r:embed="rId2"/>
          <a:stretch>
            <a:fillRect/>
          </a:stretch>
        </p:blipFill>
        <p:spPr>
          <a:xfrm>
            <a:off x="6234150" y="1277109"/>
            <a:ext cx="5825794" cy="4202718"/>
          </a:xfrm>
          <a:prstGeom prst="rect">
            <a:avLst/>
          </a:prstGeom>
        </p:spPr>
      </p:pic>
    </p:spTree>
    <p:extLst>
      <p:ext uri="{BB962C8B-B14F-4D97-AF65-F5344CB8AC3E}">
        <p14:creationId xmlns:p14="http://schemas.microsoft.com/office/powerpoint/2010/main" val="2325846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347C02-8321-CA67-F2C0-CC5C5296F50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BBF4D7C-55F9-2D96-E393-DC1DF868C222}"/>
              </a:ext>
            </a:extLst>
          </p:cNvPr>
          <p:cNvSpPr>
            <a:spLocks noGrp="1"/>
          </p:cNvSpPr>
          <p:nvPr>
            <p:ph type="title"/>
          </p:nvPr>
        </p:nvSpPr>
        <p:spPr/>
        <p:txBody>
          <a:bodyPr/>
          <a:lstStyle/>
          <a:p>
            <a:r>
              <a:rPr lang="en-US" sz="2400" dirty="0"/>
              <a:t>Claims per Provider</a:t>
            </a:r>
            <a:endParaRPr lang="en-US" dirty="0"/>
          </a:p>
        </p:txBody>
      </p:sp>
      <p:sp>
        <p:nvSpPr>
          <p:cNvPr id="3" name="Picture Placeholder 2">
            <a:extLst>
              <a:ext uri="{FF2B5EF4-FFF2-40B4-BE49-F238E27FC236}">
                <a16:creationId xmlns:a16="http://schemas.microsoft.com/office/drawing/2014/main" id="{BB0E9232-6AAF-5505-952A-E0B7D791F173}"/>
              </a:ext>
            </a:extLst>
          </p:cNvPr>
          <p:cNvSpPr>
            <a:spLocks noGrp="1"/>
          </p:cNvSpPr>
          <p:nvPr>
            <p:ph type="pic" idx="1"/>
          </p:nvPr>
        </p:nvSpPr>
        <p:spPr/>
      </p:sp>
      <p:pic>
        <p:nvPicPr>
          <p:cNvPr id="7" name="Picture 6">
            <a:extLst>
              <a:ext uri="{FF2B5EF4-FFF2-40B4-BE49-F238E27FC236}">
                <a16:creationId xmlns:a16="http://schemas.microsoft.com/office/drawing/2014/main" id="{49C11E11-0DDF-41E2-ACF1-F4C9FF8687FC}"/>
              </a:ext>
            </a:extLst>
          </p:cNvPr>
          <p:cNvPicPr>
            <a:picLocks noChangeAspect="1"/>
          </p:cNvPicPr>
          <p:nvPr/>
        </p:nvPicPr>
        <p:blipFill>
          <a:blip r:embed="rId2"/>
          <a:stretch>
            <a:fillRect/>
          </a:stretch>
        </p:blipFill>
        <p:spPr>
          <a:xfrm>
            <a:off x="6232587" y="1267785"/>
            <a:ext cx="5828919" cy="4221365"/>
          </a:xfrm>
          <a:prstGeom prst="rect">
            <a:avLst/>
          </a:prstGeom>
        </p:spPr>
      </p:pic>
    </p:spTree>
    <p:extLst>
      <p:ext uri="{BB962C8B-B14F-4D97-AF65-F5344CB8AC3E}">
        <p14:creationId xmlns:p14="http://schemas.microsoft.com/office/powerpoint/2010/main" val="309868133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F394CA-A602-3C41-B106-85008F1B209F}"/>
              </a:ext>
            </a:extLst>
          </p:cNvPr>
          <p:cNvSpPr>
            <a:spLocks noGrp="1"/>
          </p:cNvSpPr>
          <p:nvPr>
            <p:ph type="title"/>
          </p:nvPr>
        </p:nvSpPr>
        <p:spPr/>
        <p:txBody>
          <a:bodyPr/>
          <a:lstStyle/>
          <a:p>
            <a:r>
              <a:rPr lang="en-US" dirty="0"/>
              <a:t>Feature Engineering</a:t>
            </a:r>
          </a:p>
        </p:txBody>
      </p:sp>
      <p:sp>
        <p:nvSpPr>
          <p:cNvPr id="3" name="Content Placeholder 2">
            <a:extLst>
              <a:ext uri="{FF2B5EF4-FFF2-40B4-BE49-F238E27FC236}">
                <a16:creationId xmlns:a16="http://schemas.microsoft.com/office/drawing/2014/main" id="{19D21F86-4D78-402D-AAAB-268A00FD975D}"/>
              </a:ext>
            </a:extLst>
          </p:cNvPr>
          <p:cNvSpPr>
            <a:spLocks noGrp="1"/>
          </p:cNvSpPr>
          <p:nvPr>
            <p:ph idx="1"/>
          </p:nvPr>
        </p:nvSpPr>
        <p:spPr>
          <a:xfrm>
            <a:off x="2231136" y="2638045"/>
            <a:ext cx="7549862" cy="3255264"/>
          </a:xfrm>
        </p:spPr>
        <p:txBody>
          <a:bodyPr>
            <a:normAutofit fontScale="77500" lnSpcReduction="20000"/>
          </a:bodyPr>
          <a:lstStyle/>
          <a:p>
            <a:pPr marL="0" indent="0">
              <a:buNone/>
            </a:pPr>
            <a:endParaRPr lang="en-US" dirty="0"/>
          </a:p>
          <a:p>
            <a:pPr marL="0" indent="0">
              <a:buNone/>
            </a:pPr>
            <a:r>
              <a:rPr lang="en-US" dirty="0"/>
              <a:t>We created meaningful information about each provider to help the model learn better:</a:t>
            </a:r>
          </a:p>
          <a:p>
            <a:endParaRPr lang="en-US" dirty="0"/>
          </a:p>
          <a:p>
            <a:r>
              <a:rPr lang="en-US" dirty="0"/>
              <a:t>• Number of Procedures: How many medical procedures each provider typically performs.</a:t>
            </a:r>
          </a:p>
          <a:p>
            <a:r>
              <a:rPr lang="en-US" dirty="0"/>
              <a:t>• Total Claim Cost: How much money each provider bills Medicare.</a:t>
            </a:r>
          </a:p>
          <a:p>
            <a:r>
              <a:rPr lang="en-US" dirty="0"/>
              <a:t>• Beneficiary Information: Average patient age and number of chronic conditions.</a:t>
            </a:r>
          </a:p>
          <a:p>
            <a:r>
              <a:rPr lang="en-US" dirty="0"/>
              <a:t>• Claims Summary: How many total claims each provider submits.</a:t>
            </a:r>
          </a:p>
          <a:p>
            <a:endParaRPr lang="en-US" dirty="0"/>
          </a:p>
          <a:p>
            <a:r>
              <a:rPr lang="en-US" sz="2300" b="1" dirty="0"/>
              <a:t>Final Step:</a:t>
            </a:r>
          </a:p>
          <a:p>
            <a:r>
              <a:rPr lang="en-US" dirty="0"/>
              <a:t>We combined all inpatient, outpatient, and beneficiary information into one clean provider-level dataset.</a:t>
            </a:r>
          </a:p>
        </p:txBody>
      </p:sp>
    </p:spTree>
    <p:extLst>
      <p:ext uri="{BB962C8B-B14F-4D97-AF65-F5344CB8AC3E}">
        <p14:creationId xmlns:p14="http://schemas.microsoft.com/office/powerpoint/2010/main" val="32554702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341555-1ED0-C3EF-893D-BA03555C4EF0}"/>
              </a:ext>
            </a:extLst>
          </p:cNvPr>
          <p:cNvSpPr>
            <a:spLocks noGrp="1"/>
          </p:cNvSpPr>
          <p:nvPr>
            <p:ph type="title"/>
          </p:nvPr>
        </p:nvSpPr>
        <p:spPr/>
        <p:txBody>
          <a:bodyPr/>
          <a:lstStyle/>
          <a:p>
            <a:r>
              <a:rPr lang="en-US" dirty="0"/>
              <a:t>Modeling</a:t>
            </a:r>
          </a:p>
        </p:txBody>
      </p:sp>
      <p:sp>
        <p:nvSpPr>
          <p:cNvPr id="3" name="Content Placeholder 2">
            <a:extLst>
              <a:ext uri="{FF2B5EF4-FFF2-40B4-BE49-F238E27FC236}">
                <a16:creationId xmlns:a16="http://schemas.microsoft.com/office/drawing/2014/main" id="{37EAFD44-5D5E-0842-FF9A-E6858E39CC14}"/>
              </a:ext>
            </a:extLst>
          </p:cNvPr>
          <p:cNvSpPr>
            <a:spLocks noGrp="1"/>
          </p:cNvSpPr>
          <p:nvPr>
            <p:ph idx="1"/>
          </p:nvPr>
        </p:nvSpPr>
        <p:spPr>
          <a:xfrm>
            <a:off x="2012022" y="2288955"/>
            <a:ext cx="8167955" cy="4666882"/>
          </a:xfrm>
        </p:spPr>
        <p:txBody>
          <a:bodyPr>
            <a:normAutofit/>
          </a:bodyPr>
          <a:lstStyle/>
          <a:p>
            <a:r>
              <a:rPr lang="en-US" sz="1400" b="1" dirty="0"/>
              <a:t>Models Tested:</a:t>
            </a:r>
          </a:p>
          <a:p>
            <a:r>
              <a:rPr lang="en-US" sz="1400" dirty="0"/>
              <a:t>- Decision Tree Classifier</a:t>
            </a:r>
          </a:p>
          <a:p>
            <a:r>
              <a:rPr lang="en-US" sz="1400" dirty="0"/>
              <a:t>- Logistic Regression</a:t>
            </a:r>
          </a:p>
          <a:p>
            <a:r>
              <a:rPr lang="en-US" sz="1400" dirty="0"/>
              <a:t>- Random Forest Classifier</a:t>
            </a:r>
          </a:p>
          <a:p>
            <a:r>
              <a:rPr lang="en-US" sz="1400" dirty="0"/>
              <a:t>- Gradient Boosting Classifier</a:t>
            </a:r>
          </a:p>
          <a:p>
            <a:r>
              <a:rPr lang="en-US" sz="1400" dirty="0"/>
              <a:t>- Support Vector Machine (SVM)</a:t>
            </a:r>
            <a:endParaRPr lang="en-US" sz="700" dirty="0"/>
          </a:p>
          <a:p>
            <a:r>
              <a:rPr lang="en-US" sz="1400" b="1" dirty="0"/>
              <a:t>Class Imbalance Handling:</a:t>
            </a:r>
          </a:p>
          <a:p>
            <a:r>
              <a:rPr lang="en-US" sz="1400" dirty="0"/>
              <a:t>- Used **SMOTE** (Synthetic Minority Over-sampling Technique) to address class imbalance.</a:t>
            </a:r>
          </a:p>
          <a:p>
            <a:r>
              <a:rPr lang="en-US" sz="1400" dirty="0"/>
              <a:t>- Preprocessed data with **Standard Scaling** for numerical features and **One-Hot Encoding** for categorical features.</a:t>
            </a:r>
          </a:p>
          <a:p>
            <a:pPr marL="0" indent="0">
              <a:buNone/>
            </a:pPr>
            <a:r>
              <a:rPr lang="en-US" sz="100" dirty="0"/>
              <a:t>                                                                       </a:t>
            </a:r>
            <a:r>
              <a:rPr lang="en-US" sz="1400" b="1" dirty="0"/>
              <a:t>Best Model:</a:t>
            </a:r>
          </a:p>
          <a:p>
            <a:r>
              <a:rPr lang="en-US" sz="1400" dirty="0"/>
              <a:t>- Random Forest Classifier showed the best performance in identifying fraudulent providers with an **ROC AUC of 0.92** and **F1 Score of 0.59**.</a:t>
            </a:r>
          </a:p>
        </p:txBody>
      </p:sp>
    </p:spTree>
    <p:extLst>
      <p:ext uri="{BB962C8B-B14F-4D97-AF65-F5344CB8AC3E}">
        <p14:creationId xmlns:p14="http://schemas.microsoft.com/office/powerpoint/2010/main" val="222661370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7FC867-2A35-1AD4-6E00-65672A841403}"/>
              </a:ext>
            </a:extLst>
          </p:cNvPr>
          <p:cNvSpPr>
            <a:spLocks noGrp="1"/>
          </p:cNvSpPr>
          <p:nvPr>
            <p:ph type="title"/>
          </p:nvPr>
        </p:nvSpPr>
        <p:spPr/>
        <p:txBody>
          <a:bodyPr/>
          <a:lstStyle/>
          <a:p>
            <a:r>
              <a:rPr lang="en-US" dirty="0"/>
              <a:t>Overall Methodology</a:t>
            </a:r>
          </a:p>
        </p:txBody>
      </p:sp>
      <p:sp>
        <p:nvSpPr>
          <p:cNvPr id="3" name="Content Placeholder 2">
            <a:extLst>
              <a:ext uri="{FF2B5EF4-FFF2-40B4-BE49-F238E27FC236}">
                <a16:creationId xmlns:a16="http://schemas.microsoft.com/office/drawing/2014/main" id="{3B244CED-CA1B-DF2E-DF06-D707085E0CC7}"/>
              </a:ext>
            </a:extLst>
          </p:cNvPr>
          <p:cNvSpPr>
            <a:spLocks noGrp="1"/>
          </p:cNvSpPr>
          <p:nvPr>
            <p:ph idx="1"/>
          </p:nvPr>
        </p:nvSpPr>
        <p:spPr>
          <a:xfrm>
            <a:off x="2231136" y="2373330"/>
            <a:ext cx="7729728" cy="4356243"/>
          </a:xfrm>
        </p:spPr>
        <p:txBody>
          <a:bodyPr>
            <a:normAutofit fontScale="70000" lnSpcReduction="20000"/>
          </a:bodyPr>
          <a:lstStyle/>
          <a:p>
            <a:endParaRPr lang="en-US" dirty="0"/>
          </a:p>
          <a:p>
            <a:r>
              <a:rPr lang="en-US" b="1" dirty="0"/>
              <a:t>1. Data Understanding</a:t>
            </a:r>
          </a:p>
          <a:p>
            <a:r>
              <a:rPr lang="en-US" dirty="0"/>
              <a:t>   – Reviewed 4 datasets (beneficiary, inpatient, outpatient, labels)</a:t>
            </a:r>
          </a:p>
          <a:p>
            <a:r>
              <a:rPr lang="en-US" dirty="0"/>
              <a:t>   – Identified key identifiers (</a:t>
            </a:r>
            <a:r>
              <a:rPr lang="en-US" dirty="0" err="1"/>
              <a:t>BeneID</a:t>
            </a:r>
            <a:r>
              <a:rPr lang="en-US" dirty="0"/>
              <a:t>, Provider)</a:t>
            </a:r>
          </a:p>
          <a:p>
            <a:endParaRPr lang="en-US" dirty="0"/>
          </a:p>
          <a:p>
            <a:r>
              <a:rPr lang="en-US" b="1" dirty="0"/>
              <a:t>2. Data Cleaning</a:t>
            </a:r>
          </a:p>
          <a:p>
            <a:r>
              <a:rPr lang="en-US" dirty="0"/>
              <a:t>   – Handled missing values and inconsistent provider IDs</a:t>
            </a:r>
          </a:p>
          <a:p>
            <a:r>
              <a:rPr lang="en-US" dirty="0"/>
              <a:t>   – Standardized formats across all datasets</a:t>
            </a:r>
          </a:p>
          <a:p>
            <a:endParaRPr lang="en-US" dirty="0"/>
          </a:p>
          <a:p>
            <a:r>
              <a:rPr lang="en-US" b="1" dirty="0"/>
              <a:t>3. Exploratory Data Analysis (EDA)</a:t>
            </a:r>
          </a:p>
          <a:p>
            <a:r>
              <a:rPr lang="en-US" dirty="0"/>
              <a:t>   – Class imbalance analysis (10% fraud)</a:t>
            </a:r>
          </a:p>
          <a:p>
            <a:r>
              <a:rPr lang="en-US" dirty="0"/>
              <a:t>   – Outlier detection</a:t>
            </a:r>
          </a:p>
          <a:p>
            <a:r>
              <a:rPr lang="en-US" dirty="0"/>
              <a:t>   – Comparison between fraudulent and non-fraudulent providers</a:t>
            </a:r>
          </a:p>
          <a:p>
            <a:r>
              <a:rPr lang="en-US" dirty="0"/>
              <a:t>   – Claim amount patterns (inpatient vs outpatient)</a:t>
            </a:r>
          </a:p>
          <a:p>
            <a:r>
              <a:rPr lang="en-US" dirty="0"/>
              <a:t>   – Correlation and feature importance insights</a:t>
            </a:r>
          </a:p>
          <a:p>
            <a:endParaRPr lang="en-US" dirty="0"/>
          </a:p>
        </p:txBody>
      </p:sp>
    </p:spTree>
    <p:extLst>
      <p:ext uri="{BB962C8B-B14F-4D97-AF65-F5344CB8AC3E}">
        <p14:creationId xmlns:p14="http://schemas.microsoft.com/office/powerpoint/2010/main" val="73731707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2">
            <a:extLst>
              <a:ext uri="{FF2B5EF4-FFF2-40B4-BE49-F238E27FC236}">
                <a16:creationId xmlns:a16="http://schemas.microsoft.com/office/drawing/2014/main" id="{0214D2AF-E7DD-879B-BB5A-A85EC7B3D07D}"/>
              </a:ext>
            </a:extLst>
          </p:cNvPr>
          <p:cNvSpPr txBox="1">
            <a:spLocks/>
          </p:cNvSpPr>
          <p:nvPr/>
        </p:nvSpPr>
        <p:spPr>
          <a:xfrm>
            <a:off x="2231136" y="716623"/>
            <a:ext cx="7729728" cy="5424754"/>
          </a:xfrm>
          <a:prstGeom prst="rect">
            <a:avLst/>
          </a:prstGeom>
        </p:spPr>
        <p:txBody>
          <a:bodyPr>
            <a:normAutofit fontScale="77500" lnSpcReduction="20000"/>
          </a:bodyPr>
          <a:lst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a:lstStyle>
          <a:p>
            <a:endParaRPr lang="en-US" dirty="0"/>
          </a:p>
          <a:p>
            <a:r>
              <a:rPr lang="en-US" sz="2100" b="1" dirty="0"/>
              <a:t>4. Feature Engineering</a:t>
            </a:r>
          </a:p>
          <a:p>
            <a:r>
              <a:rPr lang="en-US" dirty="0"/>
              <a:t>   – Aggregated claims per provider</a:t>
            </a:r>
          </a:p>
          <a:p>
            <a:r>
              <a:rPr lang="en-US" dirty="0"/>
              <a:t>   – Computed claim costs, procedures, and beneficiary features</a:t>
            </a:r>
          </a:p>
          <a:p>
            <a:r>
              <a:rPr lang="en-US" dirty="0"/>
              <a:t>   – Created final provider-level dataset</a:t>
            </a:r>
          </a:p>
          <a:p>
            <a:endParaRPr lang="en-US" dirty="0"/>
          </a:p>
          <a:p>
            <a:r>
              <a:rPr lang="en-US" sz="2100" b="1" dirty="0"/>
              <a:t>5. Modeling</a:t>
            </a:r>
          </a:p>
          <a:p>
            <a:r>
              <a:rPr lang="en-US" dirty="0"/>
              <a:t>   – Trained Logistic Regression, Decision Tree, Random Forest, Gradient Boosting, SVM</a:t>
            </a:r>
          </a:p>
          <a:p>
            <a:r>
              <a:rPr lang="en-US" dirty="0"/>
              <a:t>   – Applied SMOTE for imbalance</a:t>
            </a:r>
          </a:p>
          <a:p>
            <a:r>
              <a:rPr lang="en-US" dirty="0"/>
              <a:t>   – Applied </a:t>
            </a:r>
            <a:r>
              <a:rPr lang="en-US" dirty="0" err="1"/>
              <a:t>StandardScaling</a:t>
            </a:r>
            <a:r>
              <a:rPr lang="en-US" dirty="0"/>
              <a:t> + </a:t>
            </a:r>
            <a:r>
              <a:rPr lang="en-US" dirty="0" err="1"/>
              <a:t>OneHotEncoding</a:t>
            </a:r>
            <a:endParaRPr lang="en-US" dirty="0"/>
          </a:p>
          <a:p>
            <a:endParaRPr lang="en-US" dirty="0"/>
          </a:p>
          <a:p>
            <a:r>
              <a:rPr lang="en-US" sz="2100" b="1" dirty="0"/>
              <a:t>6. Evaluation</a:t>
            </a:r>
          </a:p>
          <a:p>
            <a:r>
              <a:rPr lang="en-US" dirty="0"/>
              <a:t>   – Used Precision, Recall, F1 Score, PR AUC, ROC AUC</a:t>
            </a:r>
          </a:p>
          <a:p>
            <a:r>
              <a:rPr lang="en-US" dirty="0"/>
              <a:t>   – Compared models and selected best-performing one</a:t>
            </a:r>
          </a:p>
          <a:p>
            <a:endParaRPr lang="en-US" dirty="0"/>
          </a:p>
          <a:p>
            <a:r>
              <a:rPr lang="en-US" sz="2100" b="1" dirty="0"/>
              <a:t>7. Error Analysis &amp; Business Impact</a:t>
            </a:r>
          </a:p>
          <a:p>
            <a:r>
              <a:rPr lang="en-US" dirty="0"/>
              <a:t>   – Analyzed financial impact of FP/FN</a:t>
            </a:r>
          </a:p>
          <a:p>
            <a:r>
              <a:rPr lang="en-US" dirty="0"/>
              <a:t>   – Highlighted improvements for CMS</a:t>
            </a:r>
          </a:p>
        </p:txBody>
      </p:sp>
    </p:spTree>
    <p:extLst>
      <p:ext uri="{BB962C8B-B14F-4D97-AF65-F5344CB8AC3E}">
        <p14:creationId xmlns:p14="http://schemas.microsoft.com/office/powerpoint/2010/main" val="87635646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327F6E-617E-C08E-6383-95F60150EBC7}"/>
              </a:ext>
            </a:extLst>
          </p:cNvPr>
          <p:cNvSpPr>
            <a:spLocks noGrp="1"/>
          </p:cNvSpPr>
          <p:nvPr>
            <p:ph type="title"/>
          </p:nvPr>
        </p:nvSpPr>
        <p:spPr/>
        <p:txBody>
          <a:bodyPr/>
          <a:lstStyle/>
          <a:p>
            <a:r>
              <a:rPr lang="en-US" dirty="0"/>
              <a:t>Evaluation</a:t>
            </a:r>
          </a:p>
        </p:txBody>
      </p:sp>
      <p:sp>
        <p:nvSpPr>
          <p:cNvPr id="3" name="Content Placeholder 2">
            <a:extLst>
              <a:ext uri="{FF2B5EF4-FFF2-40B4-BE49-F238E27FC236}">
                <a16:creationId xmlns:a16="http://schemas.microsoft.com/office/drawing/2014/main" id="{3786A1FF-C86C-BE4B-1370-1F09FABCF869}"/>
              </a:ext>
            </a:extLst>
          </p:cNvPr>
          <p:cNvSpPr>
            <a:spLocks noGrp="1"/>
          </p:cNvSpPr>
          <p:nvPr>
            <p:ph idx="1"/>
          </p:nvPr>
        </p:nvSpPr>
        <p:spPr>
          <a:xfrm>
            <a:off x="2231136" y="2638044"/>
            <a:ext cx="7729728" cy="3855223"/>
          </a:xfrm>
        </p:spPr>
        <p:txBody>
          <a:bodyPr>
            <a:normAutofit fontScale="92500" lnSpcReduction="10000"/>
          </a:bodyPr>
          <a:lstStyle/>
          <a:p>
            <a:r>
              <a:rPr lang="en-US" b="1" dirty="0"/>
              <a:t>Evaluation Metrics:</a:t>
            </a:r>
          </a:p>
          <a:p>
            <a:r>
              <a:rPr lang="en-US" dirty="0"/>
              <a:t>- Precision: Proportion of true positives among all positive predictions.</a:t>
            </a:r>
          </a:p>
          <a:p>
            <a:r>
              <a:rPr lang="en-US" dirty="0"/>
              <a:t>- Recall: Proportion of true positives among all actual positives.</a:t>
            </a:r>
          </a:p>
          <a:p>
            <a:r>
              <a:rPr lang="en-US" dirty="0"/>
              <a:t>- F1 Score: Harmonic mean of Precision and Recall.</a:t>
            </a:r>
          </a:p>
          <a:p>
            <a:r>
              <a:rPr lang="en-US" dirty="0"/>
              <a:t>- PR AUC: Area under the Precision-Recall curve (important for imbalanced data).</a:t>
            </a:r>
          </a:p>
          <a:p>
            <a:r>
              <a:rPr lang="en-US" dirty="0"/>
              <a:t>- ROC AUC: Measures the ability of the model to distinguish between classes.</a:t>
            </a:r>
          </a:p>
          <a:p>
            <a:endParaRPr lang="en-US" dirty="0"/>
          </a:p>
          <a:p>
            <a:r>
              <a:rPr lang="en-US" dirty="0"/>
              <a:t>Best Model: Logistic Regression (highest ROC AUC and Precision).</a:t>
            </a:r>
          </a:p>
          <a:p>
            <a:endParaRPr lang="en-US" dirty="0"/>
          </a:p>
          <a:p>
            <a:r>
              <a:rPr lang="en-US" dirty="0"/>
              <a:t>Random Forest: Best balance between **Precision** and **Recall**, with **ROC AUC of 0.92**.</a:t>
            </a:r>
          </a:p>
          <a:p>
            <a:endParaRPr lang="en-US" dirty="0"/>
          </a:p>
        </p:txBody>
      </p:sp>
    </p:spTree>
    <p:extLst>
      <p:ext uri="{BB962C8B-B14F-4D97-AF65-F5344CB8AC3E}">
        <p14:creationId xmlns:p14="http://schemas.microsoft.com/office/powerpoint/2010/main" val="143067569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50FC4A-2212-064D-A327-457ED2EADF9C}"/>
              </a:ext>
            </a:extLst>
          </p:cNvPr>
          <p:cNvSpPr>
            <a:spLocks noGrp="1"/>
          </p:cNvSpPr>
          <p:nvPr>
            <p:ph type="title"/>
          </p:nvPr>
        </p:nvSpPr>
        <p:spPr/>
        <p:txBody>
          <a:bodyPr/>
          <a:lstStyle/>
          <a:p>
            <a:r>
              <a:rPr lang="en-US" b="1" dirty="0"/>
              <a:t>Model Comparison Results</a:t>
            </a:r>
            <a:br>
              <a:rPr lang="en-US" b="1" dirty="0"/>
            </a:br>
            <a:endParaRPr lang="en-US" dirty="0"/>
          </a:p>
        </p:txBody>
      </p:sp>
      <p:sp>
        <p:nvSpPr>
          <p:cNvPr id="3" name="Content Placeholder 2">
            <a:extLst>
              <a:ext uri="{FF2B5EF4-FFF2-40B4-BE49-F238E27FC236}">
                <a16:creationId xmlns:a16="http://schemas.microsoft.com/office/drawing/2014/main" id="{597F69DC-1FFE-D8A4-E789-F66ABDC4720E}"/>
              </a:ext>
            </a:extLst>
          </p:cNvPr>
          <p:cNvSpPr>
            <a:spLocks noGrp="1"/>
          </p:cNvSpPr>
          <p:nvPr>
            <p:ph idx="1"/>
          </p:nvPr>
        </p:nvSpPr>
        <p:spPr>
          <a:xfrm>
            <a:off x="2303054" y="2391463"/>
            <a:ext cx="4159391" cy="2171465"/>
          </a:xfrm>
        </p:spPr>
        <p:txBody>
          <a:bodyPr>
            <a:normAutofit fontScale="62500" lnSpcReduction="20000"/>
          </a:bodyPr>
          <a:lstStyle/>
          <a:p>
            <a:pPr marL="0" indent="0">
              <a:buNone/>
            </a:pPr>
            <a:r>
              <a:rPr lang="en-US" sz="2500" b="1" dirty="0"/>
              <a:t>LOGISTIC REGRESSION:</a:t>
            </a:r>
          </a:p>
          <a:p>
            <a:pPr marL="0" indent="0">
              <a:buNone/>
            </a:pPr>
            <a:r>
              <a:rPr lang="en-US" sz="2500" b="1" dirty="0"/>
              <a:t>• Precision: 0.4583  </a:t>
            </a:r>
          </a:p>
          <a:p>
            <a:pPr marL="0" indent="0">
              <a:buNone/>
            </a:pPr>
            <a:r>
              <a:rPr lang="en-US" sz="2500" b="1" dirty="0"/>
              <a:t>• Recall: 0.8381  </a:t>
            </a:r>
          </a:p>
          <a:p>
            <a:pPr marL="0" indent="0">
              <a:buNone/>
            </a:pPr>
            <a:r>
              <a:rPr lang="en-US" sz="2500" b="1" dirty="0"/>
              <a:t>• F1 Score: 0.5925  </a:t>
            </a:r>
          </a:p>
          <a:p>
            <a:pPr marL="0" indent="0">
              <a:buNone/>
            </a:pPr>
            <a:r>
              <a:rPr lang="en-US" sz="2500" b="1" dirty="0"/>
              <a:t>• PR AUC: 0.6849  </a:t>
            </a:r>
          </a:p>
          <a:p>
            <a:pPr marL="0" indent="0">
              <a:buNone/>
            </a:pPr>
            <a:r>
              <a:rPr lang="en-US" sz="2500" b="1" dirty="0"/>
              <a:t>• ROC AUC: 0.9366   ← BEST OVERALL</a:t>
            </a:r>
          </a:p>
          <a:p>
            <a:pPr marL="0" indent="0">
              <a:buNone/>
            </a:pPr>
            <a:endParaRPr lang="en-US" sz="200" b="1" dirty="0"/>
          </a:p>
          <a:p>
            <a:pPr marL="0" indent="0">
              <a:buNone/>
            </a:pPr>
            <a:endParaRPr lang="en-US" sz="200" b="1" dirty="0"/>
          </a:p>
          <a:p>
            <a:pPr marL="0" indent="0">
              <a:buNone/>
            </a:pPr>
            <a:endParaRPr lang="en-US" b="1" dirty="0"/>
          </a:p>
        </p:txBody>
      </p:sp>
      <p:sp>
        <p:nvSpPr>
          <p:cNvPr id="4" name="TextBox 3">
            <a:extLst>
              <a:ext uri="{FF2B5EF4-FFF2-40B4-BE49-F238E27FC236}">
                <a16:creationId xmlns:a16="http://schemas.microsoft.com/office/drawing/2014/main" id="{1A8632B5-AF23-84D3-B29C-054BF7465B67}"/>
              </a:ext>
            </a:extLst>
          </p:cNvPr>
          <p:cNvSpPr txBox="1"/>
          <p:nvPr/>
        </p:nvSpPr>
        <p:spPr>
          <a:xfrm>
            <a:off x="6986427" y="2295071"/>
            <a:ext cx="3441842" cy="2031325"/>
          </a:xfrm>
          <a:prstGeom prst="rect">
            <a:avLst/>
          </a:prstGeom>
          <a:noFill/>
        </p:spPr>
        <p:txBody>
          <a:bodyPr wrap="square" rtlCol="0">
            <a:spAutoFit/>
          </a:bodyPr>
          <a:lstStyle/>
          <a:p>
            <a:r>
              <a:rPr lang="en-US" b="1" dirty="0"/>
              <a:t>GRADIENT BOOSTING:</a:t>
            </a:r>
          </a:p>
          <a:p>
            <a:r>
              <a:rPr lang="en-US" b="1" dirty="0"/>
              <a:t>• Precision: 0.4907  </a:t>
            </a:r>
          </a:p>
          <a:p>
            <a:r>
              <a:rPr lang="en-US" b="1" dirty="0"/>
              <a:t>• Recall: 0.7619  </a:t>
            </a:r>
          </a:p>
          <a:p>
            <a:r>
              <a:rPr lang="en-US" b="1" dirty="0"/>
              <a:t>• F1 Score: 0.5970  </a:t>
            </a:r>
          </a:p>
          <a:p>
            <a:r>
              <a:rPr lang="en-US" b="1" dirty="0"/>
              <a:t>• PR AUC: 0.6265  </a:t>
            </a:r>
          </a:p>
          <a:p>
            <a:r>
              <a:rPr lang="en-US" b="1" dirty="0"/>
              <a:t>• ROC AUC: 0.9167</a:t>
            </a:r>
          </a:p>
          <a:p>
            <a:endParaRPr lang="en-US" dirty="0"/>
          </a:p>
        </p:txBody>
      </p:sp>
      <p:sp>
        <p:nvSpPr>
          <p:cNvPr id="6" name="TextBox 5">
            <a:extLst>
              <a:ext uri="{FF2B5EF4-FFF2-40B4-BE49-F238E27FC236}">
                <a16:creationId xmlns:a16="http://schemas.microsoft.com/office/drawing/2014/main" id="{2D057F77-9823-BFAD-E87D-B915007A82EB}"/>
              </a:ext>
            </a:extLst>
          </p:cNvPr>
          <p:cNvSpPr txBox="1"/>
          <p:nvPr/>
        </p:nvSpPr>
        <p:spPr>
          <a:xfrm>
            <a:off x="4705565" y="4694315"/>
            <a:ext cx="2373329" cy="1754326"/>
          </a:xfrm>
          <a:prstGeom prst="rect">
            <a:avLst/>
          </a:prstGeom>
          <a:noFill/>
        </p:spPr>
        <p:txBody>
          <a:bodyPr wrap="square">
            <a:spAutoFit/>
          </a:bodyPr>
          <a:lstStyle/>
          <a:p>
            <a:pPr marL="0" indent="0">
              <a:buNone/>
            </a:pPr>
            <a:r>
              <a:rPr lang="en-US" sz="1800" b="1" dirty="0"/>
              <a:t>RANDOM FOREST:</a:t>
            </a:r>
          </a:p>
          <a:p>
            <a:pPr marL="0" indent="0">
              <a:buNone/>
            </a:pPr>
            <a:r>
              <a:rPr lang="en-US" sz="1800" b="1" dirty="0"/>
              <a:t>• Precision: 0.544  </a:t>
            </a:r>
          </a:p>
          <a:p>
            <a:pPr marL="0" indent="0">
              <a:buNone/>
            </a:pPr>
            <a:r>
              <a:rPr lang="en-US" sz="1800" b="1" dirty="0"/>
              <a:t>• Recall: 0.6476  </a:t>
            </a:r>
          </a:p>
          <a:p>
            <a:pPr marL="0" indent="0">
              <a:buNone/>
            </a:pPr>
            <a:r>
              <a:rPr lang="en-US" sz="1800" b="1" dirty="0"/>
              <a:t>• F1 Score: 0.5913  </a:t>
            </a:r>
          </a:p>
          <a:p>
            <a:pPr marL="0" indent="0">
              <a:buNone/>
            </a:pPr>
            <a:r>
              <a:rPr lang="en-US" sz="1800" b="1" dirty="0"/>
              <a:t>• PR AUC: 0.6125  </a:t>
            </a:r>
          </a:p>
          <a:p>
            <a:pPr marL="0" indent="0">
              <a:buNone/>
            </a:pPr>
            <a:r>
              <a:rPr lang="en-US" sz="1800" b="1" dirty="0"/>
              <a:t>• ROC AUC: 0.9231</a:t>
            </a:r>
          </a:p>
        </p:txBody>
      </p:sp>
    </p:spTree>
    <p:extLst>
      <p:ext uri="{BB962C8B-B14F-4D97-AF65-F5344CB8AC3E}">
        <p14:creationId xmlns:p14="http://schemas.microsoft.com/office/powerpoint/2010/main" val="305944359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ABE89F-C04B-8281-1123-D6688CEC21CF}"/>
              </a:ext>
            </a:extLst>
          </p:cNvPr>
          <p:cNvSpPr>
            <a:spLocks noGrp="1"/>
          </p:cNvSpPr>
          <p:nvPr>
            <p:ph type="title"/>
          </p:nvPr>
        </p:nvSpPr>
        <p:spPr/>
        <p:txBody>
          <a:bodyPr/>
          <a:lstStyle/>
          <a:p>
            <a:r>
              <a:rPr lang="en-US" dirty="0"/>
              <a:t>Best Model Justification</a:t>
            </a:r>
          </a:p>
        </p:txBody>
      </p:sp>
      <p:sp>
        <p:nvSpPr>
          <p:cNvPr id="3" name="Content Placeholder 2">
            <a:extLst>
              <a:ext uri="{FF2B5EF4-FFF2-40B4-BE49-F238E27FC236}">
                <a16:creationId xmlns:a16="http://schemas.microsoft.com/office/drawing/2014/main" id="{249F8FB7-7CA5-D854-8124-35D4C92FFB9C}"/>
              </a:ext>
            </a:extLst>
          </p:cNvPr>
          <p:cNvSpPr>
            <a:spLocks noGrp="1"/>
          </p:cNvSpPr>
          <p:nvPr>
            <p:ph idx="1"/>
          </p:nvPr>
        </p:nvSpPr>
        <p:spPr>
          <a:xfrm>
            <a:off x="2231135" y="2638044"/>
            <a:ext cx="8392343" cy="4219956"/>
          </a:xfrm>
        </p:spPr>
        <p:txBody>
          <a:bodyPr>
            <a:normAutofit fontScale="92500" lnSpcReduction="20000"/>
          </a:bodyPr>
          <a:lstStyle/>
          <a:p>
            <a:r>
              <a:rPr lang="en-US" dirty="0"/>
              <a:t>BEST MODEL: Logistic Regression </a:t>
            </a:r>
          </a:p>
          <a:p>
            <a:pPr marL="0" indent="0">
              <a:buNone/>
            </a:pPr>
            <a:endParaRPr lang="en-US" dirty="0"/>
          </a:p>
          <a:p>
            <a:r>
              <a:rPr lang="en-US" dirty="0"/>
              <a:t>Note: Logistic Regression achieved the highest ROC AUC and overall precision, while Random Forest achieved the best balance between precision and recall. Based on ROC AUC and interpretability, Logistic Regression is considered the best overall model.</a:t>
            </a:r>
          </a:p>
          <a:p>
            <a:pPr marL="0" indent="0">
              <a:buNone/>
            </a:pPr>
            <a:endParaRPr lang="en-US" dirty="0"/>
          </a:p>
          <a:p>
            <a:r>
              <a:rPr lang="en-US" dirty="0"/>
              <a:t>WHY?</a:t>
            </a:r>
          </a:p>
          <a:p>
            <a:r>
              <a:rPr lang="en-US" dirty="0"/>
              <a:t>• Highest ROC AUC  </a:t>
            </a:r>
          </a:p>
          <a:p>
            <a:r>
              <a:rPr lang="en-US" dirty="0"/>
              <a:t>• Strong Precision and Recall balance  </a:t>
            </a:r>
          </a:p>
          <a:p>
            <a:r>
              <a:rPr lang="en-US" dirty="0"/>
              <a:t>• Highly interpretable for auditors  </a:t>
            </a:r>
          </a:p>
          <a:p>
            <a:r>
              <a:rPr lang="en-US" dirty="0"/>
              <a:t>• Ideal for regulatory and compliance environments  </a:t>
            </a:r>
          </a:p>
          <a:p>
            <a:endParaRPr lang="en-US" dirty="0"/>
          </a:p>
          <a:p>
            <a:r>
              <a:rPr lang="en-US" dirty="0"/>
              <a:t>Random Forest is also strong but slightly less interpretable.</a:t>
            </a:r>
          </a:p>
        </p:txBody>
      </p:sp>
    </p:spTree>
    <p:extLst>
      <p:ext uri="{BB962C8B-B14F-4D97-AF65-F5344CB8AC3E}">
        <p14:creationId xmlns:p14="http://schemas.microsoft.com/office/powerpoint/2010/main" val="14954255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064364-F757-F903-2363-C46DDF24924D}"/>
              </a:ext>
            </a:extLst>
          </p:cNvPr>
          <p:cNvSpPr>
            <a:spLocks noGrp="1"/>
          </p:cNvSpPr>
          <p:nvPr>
            <p:ph type="title"/>
          </p:nvPr>
        </p:nvSpPr>
        <p:spPr/>
        <p:txBody>
          <a:bodyPr/>
          <a:lstStyle/>
          <a:p>
            <a:r>
              <a:rPr lang="en-US" dirty="0"/>
              <a:t>Error Analysis	</a:t>
            </a:r>
          </a:p>
        </p:txBody>
      </p:sp>
      <p:sp>
        <p:nvSpPr>
          <p:cNvPr id="3" name="Content Placeholder 2">
            <a:extLst>
              <a:ext uri="{FF2B5EF4-FFF2-40B4-BE49-F238E27FC236}">
                <a16:creationId xmlns:a16="http://schemas.microsoft.com/office/drawing/2014/main" id="{4F9D3458-04CE-8533-59B2-18182CEE3709}"/>
              </a:ext>
            </a:extLst>
          </p:cNvPr>
          <p:cNvSpPr>
            <a:spLocks noGrp="1"/>
          </p:cNvSpPr>
          <p:nvPr>
            <p:ph idx="1"/>
          </p:nvPr>
        </p:nvSpPr>
        <p:spPr>
          <a:xfrm>
            <a:off x="2231136" y="2401738"/>
            <a:ext cx="8197134" cy="4456262"/>
          </a:xfrm>
        </p:spPr>
        <p:txBody>
          <a:bodyPr>
            <a:normAutofit fontScale="85000" lnSpcReduction="10000"/>
          </a:bodyPr>
          <a:lstStyle/>
          <a:p>
            <a:r>
              <a:rPr lang="en-US" sz="1900" b="1" dirty="0"/>
              <a:t>Error Analysis:</a:t>
            </a:r>
          </a:p>
          <a:p>
            <a:r>
              <a:rPr lang="en-US" dirty="0"/>
              <a:t>- False Positives: Legitimate providers flagged as fraudulent.</a:t>
            </a:r>
          </a:p>
          <a:p>
            <a:r>
              <a:rPr lang="en-US" dirty="0"/>
              <a:t>  - Example: Providers PRV52296, PRV52318.</a:t>
            </a:r>
          </a:p>
          <a:p>
            <a:r>
              <a:rPr lang="en-US" dirty="0"/>
              <a:t>  - Cost: $1,000 per false positive due to unnecessary investigations.</a:t>
            </a:r>
          </a:p>
          <a:p>
            <a:pPr marL="0" indent="0">
              <a:buNone/>
            </a:pPr>
            <a:r>
              <a:rPr lang="en-US" sz="900" dirty="0"/>
              <a:t>  </a:t>
            </a:r>
            <a:endParaRPr lang="en-US" dirty="0"/>
          </a:p>
          <a:p>
            <a:r>
              <a:rPr lang="en-US" dirty="0"/>
              <a:t>- False Negatives: Fraudulent providers missed by the model.</a:t>
            </a:r>
          </a:p>
          <a:p>
            <a:r>
              <a:rPr lang="en-US" dirty="0"/>
              <a:t>  - Example: Providers PRV51378, PRV51480.</a:t>
            </a:r>
          </a:p>
          <a:p>
            <a:r>
              <a:rPr lang="en-US" dirty="0"/>
              <a:t>  - **Cost**: $5,000 per false negative due to undetected fraud.</a:t>
            </a:r>
          </a:p>
          <a:p>
            <a:endParaRPr lang="en-US" sz="100" dirty="0"/>
          </a:p>
          <a:p>
            <a:r>
              <a:rPr lang="en-US" sz="1900" b="1" dirty="0"/>
              <a:t>Financial Impact:</a:t>
            </a:r>
          </a:p>
          <a:p>
            <a:r>
              <a:rPr lang="en-US" dirty="0"/>
              <a:t>- Total **False Positive Cost**: $3,000</a:t>
            </a:r>
          </a:p>
          <a:p>
            <a:r>
              <a:rPr lang="en-US" dirty="0"/>
              <a:t>- Total **False Negative Cost**: $15,000</a:t>
            </a:r>
          </a:p>
          <a:p>
            <a:endParaRPr lang="en-US" sz="1100" dirty="0"/>
          </a:p>
          <a:p>
            <a:r>
              <a:rPr lang="en-US" dirty="0"/>
              <a:t>The significant cost of **false negatives** emphasizes the need to improve fraud detection.</a:t>
            </a:r>
          </a:p>
          <a:p>
            <a:endParaRPr lang="en-US" dirty="0"/>
          </a:p>
        </p:txBody>
      </p:sp>
    </p:spTree>
    <p:extLst>
      <p:ext uri="{BB962C8B-B14F-4D97-AF65-F5344CB8AC3E}">
        <p14:creationId xmlns:p14="http://schemas.microsoft.com/office/powerpoint/2010/main" val="6506835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915410-A475-36B3-8CDE-9C88C3B6E753}"/>
              </a:ext>
            </a:extLst>
          </p:cNvPr>
          <p:cNvSpPr>
            <a:spLocks noGrp="1"/>
          </p:cNvSpPr>
          <p:nvPr>
            <p:ph type="title"/>
          </p:nvPr>
        </p:nvSpPr>
        <p:spPr/>
        <p:txBody>
          <a:bodyPr/>
          <a:lstStyle/>
          <a:p>
            <a:r>
              <a:rPr lang="en-US" dirty="0"/>
              <a:t>Business Impact</a:t>
            </a:r>
            <a:endParaRPr lang="en-US" b="1" dirty="0"/>
          </a:p>
        </p:txBody>
      </p:sp>
      <p:sp>
        <p:nvSpPr>
          <p:cNvPr id="3" name="Content Placeholder 2">
            <a:extLst>
              <a:ext uri="{FF2B5EF4-FFF2-40B4-BE49-F238E27FC236}">
                <a16:creationId xmlns:a16="http://schemas.microsoft.com/office/drawing/2014/main" id="{62DAFF3F-EA9D-2F71-ABFC-D733CA36D8D4}"/>
              </a:ext>
            </a:extLst>
          </p:cNvPr>
          <p:cNvSpPr>
            <a:spLocks noGrp="1"/>
          </p:cNvSpPr>
          <p:nvPr>
            <p:ph idx="1"/>
          </p:nvPr>
        </p:nvSpPr>
        <p:spPr>
          <a:xfrm>
            <a:off x="2231136" y="2638044"/>
            <a:ext cx="7729728" cy="3711385"/>
          </a:xfrm>
        </p:spPr>
        <p:txBody>
          <a:bodyPr>
            <a:normAutofit/>
          </a:bodyPr>
          <a:lstStyle/>
          <a:p>
            <a:r>
              <a:rPr lang="en-US" b="1" dirty="0"/>
              <a:t>Business Impact:</a:t>
            </a:r>
          </a:p>
          <a:p>
            <a:r>
              <a:rPr lang="en-US" dirty="0"/>
              <a:t>- Reduced Financial Losses: Prioritizing high-risk providers will help CMS focus resources on the most critical cases.</a:t>
            </a:r>
          </a:p>
          <a:p>
            <a:r>
              <a:rPr lang="en-US" dirty="0"/>
              <a:t>- Operational Efficiency: The model reduces unnecessary investigations by minimizing false positives.</a:t>
            </a:r>
          </a:p>
          <a:p>
            <a:r>
              <a:rPr lang="en-US" dirty="0"/>
              <a:t>- Fraud Prevention: The model helps detect fraudulent behavior early, saving significant costs for CMS.</a:t>
            </a:r>
          </a:p>
          <a:p>
            <a:endParaRPr lang="en-US" dirty="0"/>
          </a:p>
          <a:p>
            <a:r>
              <a:rPr lang="en-US" dirty="0"/>
              <a:t>The model can greatly enhance **fraud detection accuracy**, improving the quality and efficiency of Medicare’s fraud prevention efforts.</a:t>
            </a:r>
          </a:p>
          <a:p>
            <a:endParaRPr lang="en-US" dirty="0"/>
          </a:p>
        </p:txBody>
      </p:sp>
    </p:spTree>
    <p:extLst>
      <p:ext uri="{BB962C8B-B14F-4D97-AF65-F5344CB8AC3E}">
        <p14:creationId xmlns:p14="http://schemas.microsoft.com/office/powerpoint/2010/main" val="341639836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3FF636-5E75-EE43-3DA2-C47D2D9C1AC5}"/>
              </a:ext>
            </a:extLst>
          </p:cNvPr>
          <p:cNvSpPr>
            <a:spLocks noGrp="1"/>
          </p:cNvSpPr>
          <p:nvPr>
            <p:ph type="title"/>
          </p:nvPr>
        </p:nvSpPr>
        <p:spPr/>
        <p:txBody>
          <a:bodyPr/>
          <a:lstStyle/>
          <a:p>
            <a:r>
              <a:rPr lang="en-US" dirty="0"/>
              <a:t>Conclusion</a:t>
            </a:r>
          </a:p>
        </p:txBody>
      </p:sp>
      <p:sp>
        <p:nvSpPr>
          <p:cNvPr id="3" name="Content Placeholder 2">
            <a:extLst>
              <a:ext uri="{FF2B5EF4-FFF2-40B4-BE49-F238E27FC236}">
                <a16:creationId xmlns:a16="http://schemas.microsoft.com/office/drawing/2014/main" id="{A34C5A9C-93E5-5D18-7933-109B4792C1CD}"/>
              </a:ext>
            </a:extLst>
          </p:cNvPr>
          <p:cNvSpPr>
            <a:spLocks noGrp="1"/>
          </p:cNvSpPr>
          <p:nvPr>
            <p:ph idx="1"/>
          </p:nvPr>
        </p:nvSpPr>
        <p:spPr>
          <a:xfrm>
            <a:off x="2231135" y="2638044"/>
            <a:ext cx="7888909" cy="3773030"/>
          </a:xfrm>
        </p:spPr>
        <p:txBody>
          <a:bodyPr>
            <a:normAutofit/>
          </a:bodyPr>
          <a:lstStyle/>
          <a:p>
            <a:r>
              <a:rPr lang="en-US" sz="1900" b="1" dirty="0"/>
              <a:t>Summary:</a:t>
            </a:r>
          </a:p>
          <a:p>
            <a:r>
              <a:rPr lang="en-US" dirty="0"/>
              <a:t>- We built a machine learning model to detect fraudulent healthcare providers.</a:t>
            </a:r>
          </a:p>
          <a:p>
            <a:r>
              <a:rPr lang="en-US" dirty="0"/>
              <a:t>- The **Random Forest** model showed a good balance between **precision** and **recall**.</a:t>
            </a:r>
          </a:p>
          <a:p>
            <a:r>
              <a:rPr lang="en-US" dirty="0"/>
              <a:t>- **Logistic Regression** performed well in terms of **precision** and **ROC AUC**.</a:t>
            </a:r>
          </a:p>
          <a:p>
            <a:pPr marL="0" indent="0">
              <a:buNone/>
            </a:pPr>
            <a:r>
              <a:rPr lang="en-US" dirty="0"/>
              <a:t>  </a:t>
            </a:r>
          </a:p>
          <a:p>
            <a:r>
              <a:rPr lang="en-US" sz="1900" b="1" dirty="0"/>
              <a:t>Future Work:</a:t>
            </a:r>
          </a:p>
          <a:p>
            <a:r>
              <a:rPr lang="en-US" dirty="0"/>
              <a:t>- Fine-tuning the models, optimizing hyperparameters, and adding new features (e.g., temporal/geographic data) to improve model performance.</a:t>
            </a:r>
          </a:p>
          <a:p>
            <a:endParaRPr lang="en-US" dirty="0"/>
          </a:p>
        </p:txBody>
      </p:sp>
    </p:spTree>
    <p:extLst>
      <p:ext uri="{BB962C8B-B14F-4D97-AF65-F5344CB8AC3E}">
        <p14:creationId xmlns:p14="http://schemas.microsoft.com/office/powerpoint/2010/main" val="877354200"/>
      </p:ext>
    </p:extLst>
  </p:cSld>
  <p:clrMapOvr>
    <a:masterClrMapping/>
  </p:clrMapOvr>
</p:sld>
</file>

<file path=ppt/theme/theme1.xml><?xml version="1.0" encoding="utf-8"?>
<a:theme xmlns:a="http://schemas.openxmlformats.org/drawingml/2006/main" name="Parcel">
  <a:themeElements>
    <a:clrScheme name="Parcel">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fontScheme name="Parcel">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Parcel">
      <a:fillStyleLst>
        <a:solidFill>
          <a:schemeClr val="phClr"/>
        </a:solidFill>
        <a:gradFill rotWithShape="1">
          <a:gsLst>
            <a:gs pos="0">
              <a:schemeClr val="phClr">
                <a:tint val="80000"/>
                <a:satMod val="107000"/>
                <a:lumMod val="103000"/>
              </a:schemeClr>
            </a:gs>
            <a:gs pos="100000">
              <a:schemeClr val="phClr">
                <a:tint val="82000"/>
                <a:satMod val="109000"/>
                <a:lumMod val="103000"/>
              </a:schemeClr>
            </a:gs>
          </a:gsLst>
          <a:lin ang="5400000" scaled="0"/>
        </a:gradFill>
        <a:gradFill rotWithShape="1">
          <a:gsLst>
            <a:gs pos="0">
              <a:schemeClr val="phClr">
                <a:tint val="97000"/>
                <a:satMod val="100000"/>
                <a:lumMod val="102000"/>
              </a:schemeClr>
            </a:gs>
            <a:gs pos="50000">
              <a:schemeClr val="phClr">
                <a:shade val="100000"/>
                <a:satMod val="103000"/>
                <a:lumMod val="100000"/>
              </a:schemeClr>
            </a:gs>
            <a:gs pos="100000">
              <a:schemeClr val="phClr">
                <a:shade val="93000"/>
                <a:satMod val="11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effectStyle>
        <a:effectStyle>
          <a:effectLst>
            <a:outerShdw blurRad="55880" dist="15240" dir="5400000" algn="ctr" rotWithShape="0">
              <a:srgbClr val="000000">
                <a:alpha val="45000"/>
              </a:srgbClr>
            </a:outerShdw>
          </a:effectLst>
          <a:scene3d>
            <a:camera prst="orthographicFront">
              <a:rot lat="0" lon="0" rev="0"/>
            </a:camera>
            <a:lightRig rig="brightRoom" dir="tl"/>
          </a:scene3d>
          <a:sp3d prstMaterial="dkEdge">
            <a:bevelT w="0" h="0"/>
          </a:sp3d>
        </a:effectStyle>
      </a:effectStyleLst>
      <a:bgFillStyleLst>
        <a:solidFill>
          <a:schemeClr val="phClr"/>
        </a:solidFill>
        <a:solidFill>
          <a:schemeClr val="phClr">
            <a:tint val="95000"/>
            <a:satMod val="170000"/>
          </a:schemeClr>
        </a:solidFill>
        <a:gradFill rotWithShape="1">
          <a:gsLst>
            <a:gs pos="0">
              <a:schemeClr val="phClr">
                <a:tint val="97000"/>
                <a:shade val="100000"/>
                <a:satMod val="185000"/>
                <a:lumMod val="120000"/>
              </a:schemeClr>
            </a:gs>
            <a:gs pos="100000">
              <a:schemeClr val="phClr">
                <a:tint val="96000"/>
                <a:shade val="95000"/>
                <a:satMod val="215000"/>
                <a:lumMod val="80000"/>
              </a:schemeClr>
            </a:gs>
          </a:gsLst>
          <a:path path="circle">
            <a:fillToRect l="50000" t="55000" r="125000" b="100000"/>
          </a:path>
        </a:gradFill>
      </a:bgFillStyleLst>
    </a:fmtScheme>
  </a:themeElements>
  <a:objectDefaults/>
  <a:extraClrSchemeLst/>
  <a:extLst>
    <a:ext uri="{05A4C25C-085E-4340-85A3-A5531E510DB2}">
      <thm15:themeFamily xmlns:thm15="http://schemas.microsoft.com/office/thememl/2012/main" name="Parcel" id="{8BEC4385-4EB9-4D53-BFB5-0EA123736B6D}" vid="{4DB32801-28C0-48B0-8C1D-A9A58613615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{40A4658E-842B-4D62-8054-166F0A3F4D6A}TFfb9a325e-b4a8-473d-b025-df086f5ae4937a5f077a-90802770140c</Template>
  <TotalTime>1080</TotalTime>
  <Words>1310</Words>
  <Application>Microsoft Office PowerPoint</Application>
  <PresentationFormat>Widescreen</PresentationFormat>
  <Paragraphs>169</Paragraphs>
  <Slides>20</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20</vt:i4>
      </vt:variant>
    </vt:vector>
  </HeadingPairs>
  <TitlesOfParts>
    <vt:vector size="24" baseType="lpstr">
      <vt:lpstr>Arial</vt:lpstr>
      <vt:lpstr>Calibri</vt:lpstr>
      <vt:lpstr>Gill Sans MT</vt:lpstr>
      <vt:lpstr>Parcel</vt:lpstr>
      <vt:lpstr>Healthcare Provider Fraud Detection</vt:lpstr>
      <vt:lpstr>Problem Overview</vt:lpstr>
      <vt:lpstr>Project Objective</vt:lpstr>
      <vt:lpstr>Data Understanding</vt:lpstr>
      <vt:lpstr>Exploratory Data Analysis (EDA)</vt:lpstr>
      <vt:lpstr>Fraud vs Non-Fraud Providers</vt:lpstr>
      <vt:lpstr>Claim Amount Distribution</vt:lpstr>
      <vt:lpstr>Claim Amount Distribution</vt:lpstr>
      <vt:lpstr>Claims per Provider</vt:lpstr>
      <vt:lpstr>Claims per Provider</vt:lpstr>
      <vt:lpstr>Feature Engineering</vt:lpstr>
      <vt:lpstr>Modeling</vt:lpstr>
      <vt:lpstr>Overall Methodology</vt:lpstr>
      <vt:lpstr>PowerPoint Presentation</vt:lpstr>
      <vt:lpstr>Evaluation</vt:lpstr>
      <vt:lpstr>Model Comparison Results </vt:lpstr>
      <vt:lpstr>Best Model Justification</vt:lpstr>
      <vt:lpstr>Error Analysis </vt:lpstr>
      <vt:lpstr>Business Impact</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Hams Dewedar</dc:creator>
  <cp:lastModifiedBy>Hams Dewedar</cp:lastModifiedBy>
  <cp:revision>4</cp:revision>
  <dcterms:created xsi:type="dcterms:W3CDTF">2025-12-02T09:30:54Z</dcterms:created>
  <dcterms:modified xsi:type="dcterms:W3CDTF">2025-12-03T03:31:08Z</dcterms:modified>
</cp:coreProperties>
</file>