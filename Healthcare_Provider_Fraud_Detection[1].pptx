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22"/>
  </p:notesMasterIdLst>
  <p:sldIdLst>
    <p:sldId id="256" r:id="rId2"/>
    <p:sldId id="257" r:id="rId3"/>
    <p:sldId id="258" r:id="rId4"/>
    <p:sldId id="259" r:id="rId5"/>
    <p:sldId id="262" r:id="rId6"/>
    <p:sldId id="263" r:id="rId7"/>
    <p:sldId id="264" r:id="rId8"/>
    <p:sldId id="267" r:id="rId9"/>
    <p:sldId id="265" r:id="rId10"/>
    <p:sldId id="266" r:id="rId11"/>
    <p:sldId id="269" r:id="rId12"/>
    <p:sldId id="270" r:id="rId13"/>
    <p:sldId id="277" r:id="rId14"/>
    <p:sldId id="278" r:id="rId15"/>
    <p:sldId id="271" r:id="rId16"/>
    <p:sldId id="275" r:id="rId17"/>
    <p:sldId id="276" r:id="rId18"/>
    <p:sldId id="272" r:id="rId19"/>
    <p:sldId id="273"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93A91-00BC-406A-921E-9FC0E622AE3F}" type="datetimeFigureOut">
              <a:rPr lang="en-US" smtClean="0"/>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FBC6DF-C2BD-4668-B5CA-FA57750D059A}" type="slidenum">
              <a:rPr lang="en-US" smtClean="0"/>
              <a:t>‹#›</a:t>
            </a:fld>
            <a:endParaRPr lang="en-US"/>
          </a:p>
        </p:txBody>
      </p:sp>
    </p:spTree>
    <p:extLst>
      <p:ext uri="{BB962C8B-B14F-4D97-AF65-F5344CB8AC3E}">
        <p14:creationId xmlns:p14="http://schemas.microsoft.com/office/powerpoint/2010/main" val="2107777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FBC6DF-C2BD-4668-B5CA-FA57750D059A}" type="slidenum">
              <a:rPr lang="en-US" smtClean="0"/>
              <a:t>3</a:t>
            </a:fld>
            <a:endParaRPr lang="en-US"/>
          </a:p>
        </p:txBody>
      </p:sp>
    </p:spTree>
    <p:extLst>
      <p:ext uri="{BB962C8B-B14F-4D97-AF65-F5344CB8AC3E}">
        <p14:creationId xmlns:p14="http://schemas.microsoft.com/office/powerpoint/2010/main" val="4086049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12/3/2025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12/3/2025</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12/3/2025</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12/3/2025</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46A27-82CE-B778-6614-A2957D6E6880}"/>
              </a:ext>
            </a:extLst>
          </p:cNvPr>
          <p:cNvSpPr>
            <a:spLocks noGrp="1"/>
          </p:cNvSpPr>
          <p:nvPr>
            <p:ph type="ctrTitle"/>
          </p:nvPr>
        </p:nvSpPr>
        <p:spPr/>
        <p:txBody>
          <a:bodyPr/>
          <a:lstStyle/>
          <a:p>
            <a:r>
              <a:rPr lang="en-US" dirty="0"/>
              <a:t>Healthcare Provider Fraud Detection</a:t>
            </a:r>
          </a:p>
        </p:txBody>
      </p:sp>
      <p:sp>
        <p:nvSpPr>
          <p:cNvPr id="3" name="Subtitle 2">
            <a:extLst>
              <a:ext uri="{FF2B5EF4-FFF2-40B4-BE49-F238E27FC236}">
                <a16:creationId xmlns:a16="http://schemas.microsoft.com/office/drawing/2014/main" id="{BCBF71B5-4725-9A21-297D-3AB03CBE2061}"/>
              </a:ext>
            </a:extLst>
          </p:cNvPr>
          <p:cNvSpPr>
            <a:spLocks noGrp="1"/>
          </p:cNvSpPr>
          <p:nvPr>
            <p:ph type="subTitle" idx="1"/>
          </p:nvPr>
        </p:nvSpPr>
        <p:spPr/>
        <p:txBody>
          <a:bodyPr>
            <a:normAutofit/>
          </a:bodyPr>
          <a:lstStyle/>
          <a:p>
            <a:r>
              <a:rPr lang="en-US" dirty="0"/>
              <a:t>A Data Orbit project for detecting fraudulent healthcare providers</a:t>
            </a:r>
          </a:p>
        </p:txBody>
      </p:sp>
    </p:spTree>
    <p:extLst>
      <p:ext uri="{BB962C8B-B14F-4D97-AF65-F5344CB8AC3E}">
        <p14:creationId xmlns:p14="http://schemas.microsoft.com/office/powerpoint/2010/main" val="3135472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F90E7-264D-AFE2-DC10-D2D94E50CDFC}"/>
              </a:ext>
            </a:extLst>
          </p:cNvPr>
          <p:cNvSpPr>
            <a:spLocks noGrp="1"/>
          </p:cNvSpPr>
          <p:nvPr>
            <p:ph type="title"/>
          </p:nvPr>
        </p:nvSpPr>
        <p:spPr/>
        <p:txBody>
          <a:bodyPr/>
          <a:lstStyle/>
          <a:p>
            <a:r>
              <a:rPr lang="en-US" dirty="0"/>
              <a:t>Problem Overview</a:t>
            </a:r>
          </a:p>
        </p:txBody>
      </p:sp>
      <p:sp>
        <p:nvSpPr>
          <p:cNvPr id="3" name="Content Placeholder 2">
            <a:extLst>
              <a:ext uri="{FF2B5EF4-FFF2-40B4-BE49-F238E27FC236}">
                <a16:creationId xmlns:a16="http://schemas.microsoft.com/office/drawing/2014/main" id="{92693B43-3B5E-7AFA-C43A-21CDE9591301}"/>
              </a:ext>
            </a:extLst>
          </p:cNvPr>
          <p:cNvSpPr>
            <a:spLocks noGrp="1"/>
          </p:cNvSpPr>
          <p:nvPr>
            <p:ph idx="1"/>
          </p:nvPr>
        </p:nvSpPr>
        <p:spPr/>
        <p:txBody>
          <a:bodyPr/>
          <a:lstStyle/>
          <a:p>
            <a:r>
              <a:rPr lang="en-US" sz="2400" dirty="0">
                <a:latin typeface="Arial Rounded MT Bold" panose="020F0704030504030204" pitchFamily="34" charset="0"/>
              </a:rPr>
              <a:t> -Fraudulent healthcare providers cost the U.S. Medicare system over $68 billion annually.</a:t>
            </a:r>
          </a:p>
          <a:p>
            <a:r>
              <a:rPr lang="en-US" sz="2400" dirty="0">
                <a:latin typeface="Arial Rounded MT Bold" panose="020F0704030504030204" pitchFamily="34" charset="0"/>
              </a:rPr>
              <a:t>- Identifying fraudulent providers is critical to reducing these losses and maintaining the quality of healthcare services.</a:t>
            </a:r>
          </a:p>
          <a:p>
            <a:endParaRPr lang="en-US" dirty="0"/>
          </a:p>
        </p:txBody>
      </p:sp>
    </p:spTree>
    <p:extLst>
      <p:ext uri="{BB962C8B-B14F-4D97-AF65-F5344CB8AC3E}">
        <p14:creationId xmlns:p14="http://schemas.microsoft.com/office/powerpoint/2010/main" val="333275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11491-499B-78DD-E413-15AB7E312748}"/>
              </a:ext>
            </a:extLst>
          </p:cNvPr>
          <p:cNvSpPr>
            <a:spLocks noGrp="1"/>
          </p:cNvSpPr>
          <p:nvPr>
            <p:ph type="title"/>
          </p:nvPr>
        </p:nvSpPr>
        <p:spPr/>
        <p:txBody>
          <a:bodyPr/>
          <a:lstStyle/>
          <a:p>
            <a:r>
              <a:rPr lang="en-US" dirty="0"/>
              <a:t>Project Objective</a:t>
            </a:r>
          </a:p>
        </p:txBody>
      </p:sp>
      <p:sp>
        <p:nvSpPr>
          <p:cNvPr id="3" name="Content Placeholder 2">
            <a:extLst>
              <a:ext uri="{FF2B5EF4-FFF2-40B4-BE49-F238E27FC236}">
                <a16:creationId xmlns:a16="http://schemas.microsoft.com/office/drawing/2014/main" id="{BD3BC1D4-5B89-311F-3CDA-5D1C61E2ADF7}"/>
              </a:ext>
            </a:extLst>
          </p:cNvPr>
          <p:cNvSpPr>
            <a:spLocks noGrp="1"/>
          </p:cNvSpPr>
          <p:nvPr>
            <p:ph idx="1"/>
          </p:nvPr>
        </p:nvSpPr>
        <p:spPr/>
        <p:txBody>
          <a:bodyPr/>
          <a:lstStyle/>
          <a:p>
            <a:r>
              <a:rPr lang="en-US" dirty="0">
                <a:latin typeface="Arial Rounded MT Bold" panose="020F0704030504030204" pitchFamily="34" charset="0"/>
              </a:rPr>
              <a:t>- Build a machine learning model to detect fraudulent healthcare providers using claims data.</a:t>
            </a:r>
          </a:p>
          <a:p>
            <a:r>
              <a:rPr lang="en-US" dirty="0">
                <a:latin typeface="Arial Rounded MT Bold" panose="020F0704030504030204" pitchFamily="34" charset="0"/>
              </a:rPr>
              <a:t>- Ensure explainability and minimize false positives to avoid unnecessary investigations.</a:t>
            </a:r>
            <a:br>
              <a:rPr lang="en-US" dirty="0">
                <a:latin typeface="Arial Rounded MT Bold" panose="020F0704030504030204" pitchFamily="34" charset="0"/>
              </a:rPr>
            </a:br>
            <a:endParaRPr lang="en-US" dirty="0">
              <a:latin typeface="Arial Rounded MT Bold" panose="020F0704030504030204" pitchFamily="34" charset="0"/>
            </a:endParaRPr>
          </a:p>
          <a:p>
            <a:r>
              <a:rPr lang="en-US" b="1" dirty="0">
                <a:latin typeface="Arial Rounded MT Bold" panose="020F0704030504030204" pitchFamily="34" charset="0"/>
              </a:rPr>
              <a:t>Goal:</a:t>
            </a:r>
            <a:br>
              <a:rPr lang="en-US" dirty="0">
                <a:latin typeface="Arial Rounded MT Bold" panose="020F0704030504030204" pitchFamily="34" charset="0"/>
              </a:rPr>
            </a:br>
            <a:r>
              <a:rPr lang="en-US" dirty="0">
                <a:latin typeface="Arial Rounded MT Bold" panose="020F0704030504030204" pitchFamily="34" charset="0"/>
              </a:rPr>
              <a:t> To detect fraudulent providers and prioritize high-risk cases for CMS (Centers for Medicare and Medicaid Services).</a:t>
            </a:r>
          </a:p>
        </p:txBody>
      </p:sp>
    </p:spTree>
    <p:extLst>
      <p:ext uri="{BB962C8B-B14F-4D97-AF65-F5344CB8AC3E}">
        <p14:creationId xmlns:p14="http://schemas.microsoft.com/office/powerpoint/2010/main" val="680441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BA45A-002B-D914-82CC-02234C8D4164}"/>
              </a:ext>
            </a:extLst>
          </p:cNvPr>
          <p:cNvSpPr>
            <a:spLocks noGrp="1"/>
          </p:cNvSpPr>
          <p:nvPr>
            <p:ph type="title"/>
          </p:nvPr>
        </p:nvSpPr>
        <p:spPr/>
        <p:txBody>
          <a:bodyPr/>
          <a:lstStyle/>
          <a:p>
            <a:r>
              <a:rPr lang="en-US" dirty="0"/>
              <a:t>Data Understanding</a:t>
            </a:r>
          </a:p>
        </p:txBody>
      </p:sp>
      <p:sp>
        <p:nvSpPr>
          <p:cNvPr id="3" name="Content Placeholder 2">
            <a:extLst>
              <a:ext uri="{FF2B5EF4-FFF2-40B4-BE49-F238E27FC236}">
                <a16:creationId xmlns:a16="http://schemas.microsoft.com/office/drawing/2014/main" id="{9110DE58-10DA-306B-5F9A-05F79BEB5C77}"/>
              </a:ext>
            </a:extLst>
          </p:cNvPr>
          <p:cNvSpPr>
            <a:spLocks noGrp="1"/>
          </p:cNvSpPr>
          <p:nvPr>
            <p:ph idx="1"/>
          </p:nvPr>
        </p:nvSpPr>
        <p:spPr>
          <a:xfrm>
            <a:off x="1356189" y="2638044"/>
            <a:ext cx="9431675" cy="4112077"/>
          </a:xfrm>
        </p:spPr>
        <p:txBody>
          <a:bodyPr>
            <a:noAutofit/>
          </a:bodyPr>
          <a:lstStyle/>
          <a:p>
            <a:r>
              <a:rPr lang="en-US" sz="1600" dirty="0"/>
              <a:t> </a:t>
            </a:r>
            <a:r>
              <a:rPr lang="en-US" sz="1600" b="1" dirty="0"/>
              <a:t>Datasets Used:</a:t>
            </a:r>
          </a:p>
          <a:p>
            <a:r>
              <a:rPr lang="en-US" sz="1600" dirty="0">
                <a:latin typeface="Arial Rounded MT Bold" panose="020F0704030504030204" pitchFamily="34" charset="0"/>
              </a:rPr>
              <a:t>1. **Train_Beneficiarydata.csv**: Contains demographics, coverage, and chronic conditions for Medicare beneficiaries.</a:t>
            </a:r>
          </a:p>
          <a:p>
            <a:r>
              <a:rPr lang="en-US" sz="1600" dirty="0">
                <a:latin typeface="Arial Rounded MT Bold" panose="020F0704030504030204" pitchFamily="34" charset="0"/>
              </a:rPr>
              <a:t>2. **Train_Inpatientdata.csv**: Hospital admission claims with financial, procedural, and physician details.</a:t>
            </a:r>
          </a:p>
          <a:p>
            <a:r>
              <a:rPr lang="en-US" sz="1600" dirty="0">
                <a:latin typeface="Arial Rounded MT Bold" panose="020F0704030504030204" pitchFamily="34" charset="0"/>
              </a:rPr>
              <a:t>3. **Train_Outpatientdata.csv**: Outpatient claim data (visits, tests, minor procedures).</a:t>
            </a:r>
          </a:p>
          <a:p>
            <a:r>
              <a:rPr lang="en-US" sz="1600" dirty="0">
                <a:latin typeface="Arial Rounded MT Bold" panose="020F0704030504030204" pitchFamily="34" charset="0"/>
              </a:rPr>
              <a:t>4. **Train_labels.csv**: Fraud labels (fraudulent or non-fraudulent) for healthcare providers.</a:t>
            </a:r>
          </a:p>
          <a:p>
            <a:endParaRPr lang="en-US" sz="1600" dirty="0"/>
          </a:p>
          <a:p>
            <a:r>
              <a:rPr lang="en-US" sz="1600" b="1" dirty="0"/>
              <a:t> Data Quality:</a:t>
            </a:r>
          </a:p>
          <a:p>
            <a:r>
              <a:rPr lang="en-US" sz="1600" dirty="0">
                <a:latin typeface="Arial Rounded MT Bold" panose="020F0704030504030204" pitchFamily="34" charset="0"/>
              </a:rPr>
              <a:t>- Missing values were imputed.</a:t>
            </a:r>
          </a:p>
          <a:p>
            <a:r>
              <a:rPr lang="en-US" sz="1600" dirty="0">
                <a:latin typeface="Arial Rounded MT Bold" panose="020F0704030504030204" pitchFamily="34" charset="0"/>
              </a:rPr>
              <a:t>- Inconsistent data entries (incorrect provider IDs) were cleaned and standardized.</a:t>
            </a:r>
          </a:p>
          <a:p>
            <a:r>
              <a:rPr lang="en-US" sz="1600" dirty="0">
                <a:latin typeface="Arial Rounded MT Bold" panose="020F0704030504030204" pitchFamily="34" charset="0"/>
              </a:rPr>
              <a:t>- Datasets from different sources were merged, ensuring consistency in granularity and provider information.</a:t>
            </a:r>
          </a:p>
        </p:txBody>
      </p:sp>
    </p:spTree>
    <p:extLst>
      <p:ext uri="{BB962C8B-B14F-4D97-AF65-F5344CB8AC3E}">
        <p14:creationId xmlns:p14="http://schemas.microsoft.com/office/powerpoint/2010/main" val="972149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8C716-7F0A-65B5-B032-AD5DC5536473}"/>
              </a:ext>
            </a:extLst>
          </p:cNvPr>
          <p:cNvSpPr>
            <a:spLocks noGrp="1"/>
          </p:cNvSpPr>
          <p:nvPr>
            <p:ph type="title"/>
          </p:nvPr>
        </p:nvSpPr>
        <p:spPr>
          <a:xfrm>
            <a:off x="2231136" y="224952"/>
            <a:ext cx="7729728" cy="1188720"/>
          </a:xfrm>
        </p:spPr>
        <p:txBody>
          <a:bodyPr/>
          <a:lstStyle/>
          <a:p>
            <a:r>
              <a:rPr lang="en-US" dirty="0"/>
              <a:t>Exploratory Data Analysis (EDA)</a:t>
            </a:r>
          </a:p>
        </p:txBody>
      </p:sp>
      <p:sp>
        <p:nvSpPr>
          <p:cNvPr id="3" name="Content Placeholder 2">
            <a:extLst>
              <a:ext uri="{FF2B5EF4-FFF2-40B4-BE49-F238E27FC236}">
                <a16:creationId xmlns:a16="http://schemas.microsoft.com/office/drawing/2014/main" id="{B54EDD5C-2FC0-A9A0-CC45-17EAF459622D}"/>
              </a:ext>
            </a:extLst>
          </p:cNvPr>
          <p:cNvSpPr>
            <a:spLocks noGrp="1"/>
          </p:cNvSpPr>
          <p:nvPr>
            <p:ph idx="1"/>
          </p:nvPr>
        </p:nvSpPr>
        <p:spPr>
          <a:xfrm>
            <a:off x="1160979" y="1754467"/>
            <a:ext cx="10695397" cy="4954558"/>
          </a:xfrm>
        </p:spPr>
        <p:txBody>
          <a:bodyPr>
            <a:noAutofit/>
          </a:bodyPr>
          <a:lstStyle/>
          <a:p>
            <a:r>
              <a:rPr lang="en-US" b="1" dirty="0"/>
              <a:t>Key Insights from EDA:</a:t>
            </a:r>
            <a:endParaRPr lang="en-US" sz="1600" dirty="0"/>
          </a:p>
          <a:p>
            <a:r>
              <a:rPr lang="en-US" sz="1600" dirty="0">
                <a:latin typeface="Arial Rounded MT Bold" panose="020F0704030504030204" pitchFamily="34" charset="0"/>
              </a:rPr>
              <a:t>• Imbalanced Data: Only around 10% of providers are fraudulent, which makes the problem harder.</a:t>
            </a:r>
          </a:p>
          <a:p>
            <a:r>
              <a:rPr lang="en-US" sz="1600" dirty="0">
                <a:latin typeface="Arial Rounded MT Bold" panose="020F0704030504030204" pitchFamily="34" charset="0"/>
              </a:rPr>
              <a:t>• Fraud vs Non-Fraud Providers: Fraudulent providers show different behavior:</a:t>
            </a:r>
          </a:p>
          <a:p>
            <a:r>
              <a:rPr lang="en-US" sz="1600" dirty="0">
                <a:latin typeface="Arial Rounded MT Bold" panose="020F0704030504030204" pitchFamily="34" charset="0"/>
              </a:rPr>
              <a:t>   – Higher claim amounts</a:t>
            </a:r>
          </a:p>
          <a:p>
            <a:r>
              <a:rPr lang="en-US" sz="1600" dirty="0">
                <a:latin typeface="Arial Rounded MT Bold" panose="020F0704030504030204" pitchFamily="34" charset="0"/>
              </a:rPr>
              <a:t>   – More procedures per visit</a:t>
            </a:r>
          </a:p>
          <a:p>
            <a:r>
              <a:rPr lang="en-US" sz="1600" dirty="0">
                <a:latin typeface="Arial Rounded MT Bold" panose="020F0704030504030204" pitchFamily="34" charset="0"/>
              </a:rPr>
              <a:t>   – More claims overall</a:t>
            </a:r>
          </a:p>
          <a:p>
            <a:r>
              <a:rPr lang="en-US" sz="1600" dirty="0">
                <a:latin typeface="Arial Rounded MT Bold" panose="020F0704030504030204" pitchFamily="34" charset="0"/>
              </a:rPr>
              <a:t>• Patterns Linked to Fraud: Certain behaviors (such as high costs and many procedures) were strongly linked to the likelihood of fraud.</a:t>
            </a:r>
          </a:p>
          <a:p>
            <a:endParaRPr lang="en-US" sz="300" dirty="0"/>
          </a:p>
          <a:p>
            <a:r>
              <a:rPr lang="en-US" b="1" dirty="0"/>
              <a:t>Visuals:</a:t>
            </a:r>
          </a:p>
          <a:p>
            <a:r>
              <a:rPr lang="en-US" sz="1600" dirty="0">
                <a:latin typeface="Arial Rounded MT Bold" panose="020F0704030504030204" pitchFamily="34" charset="0"/>
              </a:rPr>
              <a:t>- Fraud vs Non-Fraud Providers: Bar chart to show the distribution of fraudulent vs non-fraudulent providers.</a:t>
            </a:r>
          </a:p>
          <a:p>
            <a:r>
              <a:rPr lang="en-US" sz="1600" dirty="0">
                <a:latin typeface="Arial Rounded MT Bold" panose="020F0704030504030204" pitchFamily="34" charset="0"/>
              </a:rPr>
              <a:t>- Claim Amount Distribution: Box plot to compare inpatient vs outpatient claims.</a:t>
            </a:r>
          </a:p>
          <a:p>
            <a:r>
              <a:rPr lang="en-US" sz="1600" dirty="0">
                <a:latin typeface="Arial Rounded MT Bold" panose="020F0704030504030204" pitchFamily="34" charset="0"/>
              </a:rPr>
              <a:t>-Claims per Provider: Histogram showing the number of claims per provider.</a:t>
            </a:r>
          </a:p>
          <a:p>
            <a:endParaRPr lang="en-US" sz="1600" dirty="0"/>
          </a:p>
          <a:p>
            <a:endParaRPr lang="en-US" sz="1600" dirty="0"/>
          </a:p>
        </p:txBody>
      </p:sp>
    </p:spTree>
    <p:extLst>
      <p:ext uri="{BB962C8B-B14F-4D97-AF65-F5344CB8AC3E}">
        <p14:creationId xmlns:p14="http://schemas.microsoft.com/office/powerpoint/2010/main" val="4219682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C2A17-0FE6-F1EA-D0C7-9CFA52E37A6D}"/>
              </a:ext>
            </a:extLst>
          </p:cNvPr>
          <p:cNvSpPr>
            <a:spLocks noGrp="1"/>
          </p:cNvSpPr>
          <p:nvPr>
            <p:ph type="title"/>
          </p:nvPr>
        </p:nvSpPr>
        <p:spPr/>
        <p:txBody>
          <a:bodyPr/>
          <a:lstStyle/>
          <a:p>
            <a:r>
              <a:rPr lang="en-US" sz="2400" dirty="0"/>
              <a:t>Fraud vs Non-Fraud Providers</a:t>
            </a:r>
            <a:endParaRPr lang="en-US" dirty="0"/>
          </a:p>
        </p:txBody>
      </p:sp>
      <p:sp>
        <p:nvSpPr>
          <p:cNvPr id="8" name="Picture Placeholder 7">
            <a:extLst>
              <a:ext uri="{FF2B5EF4-FFF2-40B4-BE49-F238E27FC236}">
                <a16:creationId xmlns:a16="http://schemas.microsoft.com/office/drawing/2014/main" id="{354E50C3-49E6-1CF8-8A1D-45F35726C37A}"/>
              </a:ext>
            </a:extLst>
          </p:cNvPr>
          <p:cNvSpPr>
            <a:spLocks noGrp="1"/>
          </p:cNvSpPr>
          <p:nvPr>
            <p:ph type="pic" idx="1"/>
          </p:nvPr>
        </p:nvSpPr>
        <p:spPr/>
      </p:sp>
      <p:pic>
        <p:nvPicPr>
          <p:cNvPr id="10" name="Picture 9">
            <a:extLst>
              <a:ext uri="{FF2B5EF4-FFF2-40B4-BE49-F238E27FC236}">
                <a16:creationId xmlns:a16="http://schemas.microsoft.com/office/drawing/2014/main" id="{DCB9FAEE-2D31-C132-FB25-84D08B8AFD3A}"/>
              </a:ext>
            </a:extLst>
          </p:cNvPr>
          <p:cNvPicPr>
            <a:picLocks noChangeAspect="1"/>
          </p:cNvPicPr>
          <p:nvPr/>
        </p:nvPicPr>
        <p:blipFill>
          <a:blip r:embed="rId2"/>
          <a:stretch>
            <a:fillRect/>
          </a:stretch>
        </p:blipFill>
        <p:spPr>
          <a:xfrm>
            <a:off x="6241772" y="1050777"/>
            <a:ext cx="5810549" cy="4407126"/>
          </a:xfrm>
          <a:prstGeom prst="rect">
            <a:avLst/>
          </a:prstGeom>
        </p:spPr>
      </p:pic>
    </p:spTree>
    <p:extLst>
      <p:ext uri="{BB962C8B-B14F-4D97-AF65-F5344CB8AC3E}">
        <p14:creationId xmlns:p14="http://schemas.microsoft.com/office/powerpoint/2010/main" val="3333280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3C863-2052-8BCB-EDD8-A6EBF995A5A4}"/>
              </a:ext>
            </a:extLst>
          </p:cNvPr>
          <p:cNvSpPr>
            <a:spLocks noGrp="1"/>
          </p:cNvSpPr>
          <p:nvPr>
            <p:ph type="title"/>
          </p:nvPr>
        </p:nvSpPr>
        <p:spPr/>
        <p:txBody>
          <a:bodyPr/>
          <a:lstStyle/>
          <a:p>
            <a:r>
              <a:rPr lang="en-US" sz="2400" dirty="0"/>
              <a:t>Claim Amount Distribution</a:t>
            </a:r>
            <a:endParaRPr lang="en-US" dirty="0"/>
          </a:p>
        </p:txBody>
      </p:sp>
      <p:sp>
        <p:nvSpPr>
          <p:cNvPr id="3" name="Picture Placeholder 2">
            <a:extLst>
              <a:ext uri="{FF2B5EF4-FFF2-40B4-BE49-F238E27FC236}">
                <a16:creationId xmlns:a16="http://schemas.microsoft.com/office/drawing/2014/main" id="{32945914-8854-33C5-E145-297299E88FC0}"/>
              </a:ext>
            </a:extLst>
          </p:cNvPr>
          <p:cNvSpPr>
            <a:spLocks noGrp="1"/>
          </p:cNvSpPr>
          <p:nvPr>
            <p:ph type="pic" idx="1"/>
          </p:nvPr>
        </p:nvSpPr>
        <p:spPr/>
      </p:sp>
      <p:pic>
        <p:nvPicPr>
          <p:cNvPr id="6" name="Picture 5">
            <a:extLst>
              <a:ext uri="{FF2B5EF4-FFF2-40B4-BE49-F238E27FC236}">
                <a16:creationId xmlns:a16="http://schemas.microsoft.com/office/drawing/2014/main" id="{3C65297D-2FD1-E408-A2CE-E13F92FAA41E}"/>
              </a:ext>
            </a:extLst>
          </p:cNvPr>
          <p:cNvPicPr>
            <a:picLocks noChangeAspect="1"/>
          </p:cNvPicPr>
          <p:nvPr/>
        </p:nvPicPr>
        <p:blipFill>
          <a:blip r:embed="rId2"/>
          <a:stretch>
            <a:fillRect/>
          </a:stretch>
        </p:blipFill>
        <p:spPr>
          <a:xfrm>
            <a:off x="6397345" y="1333726"/>
            <a:ext cx="5695338" cy="4089484"/>
          </a:xfrm>
          <a:prstGeom prst="rect">
            <a:avLst/>
          </a:prstGeom>
        </p:spPr>
      </p:pic>
    </p:spTree>
    <p:extLst>
      <p:ext uri="{BB962C8B-B14F-4D97-AF65-F5344CB8AC3E}">
        <p14:creationId xmlns:p14="http://schemas.microsoft.com/office/powerpoint/2010/main" val="2420991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56E69-7281-5473-8D5B-46682ED1A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90A48-40EA-DF2F-EF35-95A82D04FA8A}"/>
              </a:ext>
            </a:extLst>
          </p:cNvPr>
          <p:cNvSpPr>
            <a:spLocks noGrp="1"/>
          </p:cNvSpPr>
          <p:nvPr>
            <p:ph type="title"/>
          </p:nvPr>
        </p:nvSpPr>
        <p:spPr/>
        <p:txBody>
          <a:bodyPr/>
          <a:lstStyle/>
          <a:p>
            <a:r>
              <a:rPr lang="en-US" sz="2400" dirty="0"/>
              <a:t>Claim Amount Distribution</a:t>
            </a:r>
            <a:endParaRPr lang="en-US" dirty="0"/>
          </a:p>
        </p:txBody>
      </p:sp>
      <p:sp>
        <p:nvSpPr>
          <p:cNvPr id="3" name="Picture Placeholder 2">
            <a:extLst>
              <a:ext uri="{FF2B5EF4-FFF2-40B4-BE49-F238E27FC236}">
                <a16:creationId xmlns:a16="http://schemas.microsoft.com/office/drawing/2014/main" id="{A58F3067-528C-DF31-360F-11D4EAB35DFE}"/>
              </a:ext>
            </a:extLst>
          </p:cNvPr>
          <p:cNvSpPr>
            <a:spLocks noGrp="1"/>
          </p:cNvSpPr>
          <p:nvPr>
            <p:ph type="pic" idx="1"/>
          </p:nvPr>
        </p:nvSpPr>
        <p:spPr/>
      </p:sp>
      <p:pic>
        <p:nvPicPr>
          <p:cNvPr id="7" name="Picture 6">
            <a:extLst>
              <a:ext uri="{FF2B5EF4-FFF2-40B4-BE49-F238E27FC236}">
                <a16:creationId xmlns:a16="http://schemas.microsoft.com/office/drawing/2014/main" id="{31300156-0747-D115-3904-A6241745E30C}"/>
              </a:ext>
            </a:extLst>
          </p:cNvPr>
          <p:cNvPicPr>
            <a:picLocks noChangeAspect="1"/>
          </p:cNvPicPr>
          <p:nvPr/>
        </p:nvPicPr>
        <p:blipFill>
          <a:blip r:embed="rId2"/>
          <a:stretch>
            <a:fillRect/>
          </a:stretch>
        </p:blipFill>
        <p:spPr>
          <a:xfrm>
            <a:off x="6292392" y="1423788"/>
            <a:ext cx="5678511" cy="3909360"/>
          </a:xfrm>
          <a:prstGeom prst="rect">
            <a:avLst/>
          </a:prstGeom>
        </p:spPr>
      </p:pic>
    </p:spTree>
    <p:extLst>
      <p:ext uri="{BB962C8B-B14F-4D97-AF65-F5344CB8AC3E}">
        <p14:creationId xmlns:p14="http://schemas.microsoft.com/office/powerpoint/2010/main" val="2539811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FD67F-CC92-7446-83CB-DA43E661DA82}"/>
              </a:ext>
            </a:extLst>
          </p:cNvPr>
          <p:cNvSpPr>
            <a:spLocks noGrp="1"/>
          </p:cNvSpPr>
          <p:nvPr>
            <p:ph type="title"/>
          </p:nvPr>
        </p:nvSpPr>
        <p:spPr/>
        <p:txBody>
          <a:bodyPr/>
          <a:lstStyle/>
          <a:p>
            <a:r>
              <a:rPr lang="en-US" sz="2400" dirty="0"/>
              <a:t>Claims per Provider</a:t>
            </a:r>
            <a:endParaRPr lang="en-US" dirty="0"/>
          </a:p>
        </p:txBody>
      </p:sp>
      <p:sp>
        <p:nvSpPr>
          <p:cNvPr id="3" name="Picture Placeholder 2">
            <a:extLst>
              <a:ext uri="{FF2B5EF4-FFF2-40B4-BE49-F238E27FC236}">
                <a16:creationId xmlns:a16="http://schemas.microsoft.com/office/drawing/2014/main" id="{DE4BA2D5-B593-8AB1-354C-D46D210DF01A}"/>
              </a:ext>
            </a:extLst>
          </p:cNvPr>
          <p:cNvSpPr>
            <a:spLocks noGrp="1"/>
          </p:cNvSpPr>
          <p:nvPr>
            <p:ph type="pic" idx="1"/>
          </p:nvPr>
        </p:nvSpPr>
        <p:spPr/>
      </p:sp>
      <p:pic>
        <p:nvPicPr>
          <p:cNvPr id="6" name="Picture 5">
            <a:extLst>
              <a:ext uri="{FF2B5EF4-FFF2-40B4-BE49-F238E27FC236}">
                <a16:creationId xmlns:a16="http://schemas.microsoft.com/office/drawing/2014/main" id="{28F61701-E646-3DF7-E378-EE99B7CD20F7}"/>
              </a:ext>
            </a:extLst>
          </p:cNvPr>
          <p:cNvPicPr>
            <a:picLocks noChangeAspect="1"/>
          </p:cNvPicPr>
          <p:nvPr/>
        </p:nvPicPr>
        <p:blipFill>
          <a:blip r:embed="rId2"/>
          <a:stretch>
            <a:fillRect/>
          </a:stretch>
        </p:blipFill>
        <p:spPr>
          <a:xfrm>
            <a:off x="6234150" y="1277109"/>
            <a:ext cx="5825794" cy="4202718"/>
          </a:xfrm>
          <a:prstGeom prst="rect">
            <a:avLst/>
          </a:prstGeom>
        </p:spPr>
      </p:pic>
    </p:spTree>
    <p:extLst>
      <p:ext uri="{BB962C8B-B14F-4D97-AF65-F5344CB8AC3E}">
        <p14:creationId xmlns:p14="http://schemas.microsoft.com/office/powerpoint/2010/main" val="232584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47C02-8321-CA67-F2C0-CC5C5296F5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F4D7C-55F9-2D96-E393-DC1DF868C222}"/>
              </a:ext>
            </a:extLst>
          </p:cNvPr>
          <p:cNvSpPr>
            <a:spLocks noGrp="1"/>
          </p:cNvSpPr>
          <p:nvPr>
            <p:ph type="title"/>
          </p:nvPr>
        </p:nvSpPr>
        <p:spPr/>
        <p:txBody>
          <a:bodyPr/>
          <a:lstStyle/>
          <a:p>
            <a:r>
              <a:rPr lang="en-US" sz="2400" dirty="0"/>
              <a:t>Claims per Provider</a:t>
            </a:r>
            <a:endParaRPr lang="en-US" dirty="0"/>
          </a:p>
        </p:txBody>
      </p:sp>
      <p:sp>
        <p:nvSpPr>
          <p:cNvPr id="3" name="Picture Placeholder 2">
            <a:extLst>
              <a:ext uri="{FF2B5EF4-FFF2-40B4-BE49-F238E27FC236}">
                <a16:creationId xmlns:a16="http://schemas.microsoft.com/office/drawing/2014/main" id="{BB0E9232-6AAF-5505-952A-E0B7D791F173}"/>
              </a:ext>
            </a:extLst>
          </p:cNvPr>
          <p:cNvSpPr>
            <a:spLocks noGrp="1"/>
          </p:cNvSpPr>
          <p:nvPr>
            <p:ph type="pic" idx="1"/>
          </p:nvPr>
        </p:nvSpPr>
        <p:spPr/>
      </p:sp>
      <p:pic>
        <p:nvPicPr>
          <p:cNvPr id="7" name="Picture 6">
            <a:extLst>
              <a:ext uri="{FF2B5EF4-FFF2-40B4-BE49-F238E27FC236}">
                <a16:creationId xmlns:a16="http://schemas.microsoft.com/office/drawing/2014/main" id="{49C11E11-0DDF-41E2-ACF1-F4C9FF8687FC}"/>
              </a:ext>
            </a:extLst>
          </p:cNvPr>
          <p:cNvPicPr>
            <a:picLocks noChangeAspect="1"/>
          </p:cNvPicPr>
          <p:nvPr/>
        </p:nvPicPr>
        <p:blipFill>
          <a:blip r:embed="rId2"/>
          <a:stretch>
            <a:fillRect/>
          </a:stretch>
        </p:blipFill>
        <p:spPr>
          <a:xfrm>
            <a:off x="6232587" y="1267785"/>
            <a:ext cx="5828919" cy="4221365"/>
          </a:xfrm>
          <a:prstGeom prst="rect">
            <a:avLst/>
          </a:prstGeom>
        </p:spPr>
      </p:pic>
    </p:spTree>
    <p:extLst>
      <p:ext uri="{BB962C8B-B14F-4D97-AF65-F5344CB8AC3E}">
        <p14:creationId xmlns:p14="http://schemas.microsoft.com/office/powerpoint/2010/main" val="3098681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394CA-A602-3C41-B106-85008F1B209F}"/>
              </a:ext>
            </a:extLst>
          </p:cNvPr>
          <p:cNvSpPr>
            <a:spLocks noGrp="1"/>
          </p:cNvSpPr>
          <p:nvPr>
            <p:ph type="title"/>
          </p:nvPr>
        </p:nvSpPr>
        <p:spPr/>
        <p:txBody>
          <a:bodyPr/>
          <a:lstStyle/>
          <a:p>
            <a:r>
              <a:rPr lang="en-US" dirty="0"/>
              <a:t>Feature Engineering</a:t>
            </a:r>
          </a:p>
        </p:txBody>
      </p:sp>
      <p:sp>
        <p:nvSpPr>
          <p:cNvPr id="3" name="Content Placeholder 2">
            <a:extLst>
              <a:ext uri="{FF2B5EF4-FFF2-40B4-BE49-F238E27FC236}">
                <a16:creationId xmlns:a16="http://schemas.microsoft.com/office/drawing/2014/main" id="{19D21F86-4D78-402D-AAAB-268A00FD975D}"/>
              </a:ext>
            </a:extLst>
          </p:cNvPr>
          <p:cNvSpPr>
            <a:spLocks noGrp="1"/>
          </p:cNvSpPr>
          <p:nvPr>
            <p:ph idx="1"/>
          </p:nvPr>
        </p:nvSpPr>
        <p:spPr>
          <a:xfrm>
            <a:off x="1989056" y="2601893"/>
            <a:ext cx="8462002" cy="3912028"/>
          </a:xfrm>
        </p:spPr>
        <p:txBody>
          <a:bodyPr>
            <a:normAutofit fontScale="70000" lnSpcReduction="20000"/>
          </a:bodyPr>
          <a:lstStyle/>
          <a:p>
            <a:pPr marL="0" indent="0">
              <a:buNone/>
            </a:pPr>
            <a:endParaRPr lang="en-US" dirty="0"/>
          </a:p>
          <a:p>
            <a:pPr marL="0" indent="0">
              <a:buNone/>
            </a:pPr>
            <a:r>
              <a:rPr lang="en-US" sz="2200" dirty="0">
                <a:latin typeface="Arial Rounded MT Bold" panose="020F0704030504030204" pitchFamily="34" charset="0"/>
              </a:rPr>
              <a:t>We created meaningful information about each provider to help the model learn better:</a:t>
            </a:r>
          </a:p>
          <a:p>
            <a:endParaRPr lang="en-US" sz="2200" dirty="0">
              <a:latin typeface="Arial Rounded MT Bold" panose="020F0704030504030204" pitchFamily="34" charset="0"/>
            </a:endParaRPr>
          </a:p>
          <a:p>
            <a:r>
              <a:rPr lang="en-US" sz="2200" dirty="0">
                <a:latin typeface="Arial Rounded MT Bold" panose="020F0704030504030204" pitchFamily="34" charset="0"/>
              </a:rPr>
              <a:t>• Number of Procedures: How many medical procedures each provider typically performs.</a:t>
            </a:r>
          </a:p>
          <a:p>
            <a:r>
              <a:rPr lang="en-US" sz="2200" dirty="0">
                <a:latin typeface="Arial Rounded MT Bold" panose="020F0704030504030204" pitchFamily="34" charset="0"/>
              </a:rPr>
              <a:t>• Total Claim Cost: How much money each provider bills Medicare.</a:t>
            </a:r>
          </a:p>
          <a:p>
            <a:r>
              <a:rPr lang="en-US" sz="2200" dirty="0">
                <a:latin typeface="Arial Rounded MT Bold" panose="020F0704030504030204" pitchFamily="34" charset="0"/>
              </a:rPr>
              <a:t>• Beneficiary Information: Average patient age and number of chronic conditions.</a:t>
            </a:r>
          </a:p>
          <a:p>
            <a:r>
              <a:rPr lang="en-US" sz="2200" dirty="0">
                <a:latin typeface="Arial Rounded MT Bold" panose="020F0704030504030204" pitchFamily="34" charset="0"/>
              </a:rPr>
              <a:t>• Claims Summary: How many total claims each provider submits.</a:t>
            </a:r>
          </a:p>
          <a:p>
            <a:endParaRPr lang="en-US" dirty="0"/>
          </a:p>
          <a:p>
            <a:r>
              <a:rPr lang="en-US" sz="2300" b="1" dirty="0"/>
              <a:t>Final Step:</a:t>
            </a:r>
          </a:p>
          <a:p>
            <a:r>
              <a:rPr lang="en-US" dirty="0">
                <a:latin typeface="Arial Rounded MT Bold" panose="020F0704030504030204" pitchFamily="34" charset="0"/>
              </a:rPr>
              <a:t>We combined all inpatient, outpatient, and beneficiary information into one clean provider-level dataset.</a:t>
            </a:r>
          </a:p>
        </p:txBody>
      </p:sp>
    </p:spTree>
    <p:extLst>
      <p:ext uri="{BB962C8B-B14F-4D97-AF65-F5344CB8AC3E}">
        <p14:creationId xmlns:p14="http://schemas.microsoft.com/office/powerpoint/2010/main" val="3255470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41555-1ED0-C3EF-893D-BA03555C4EF0}"/>
              </a:ext>
            </a:extLst>
          </p:cNvPr>
          <p:cNvSpPr>
            <a:spLocks noGrp="1"/>
          </p:cNvSpPr>
          <p:nvPr>
            <p:ph type="title"/>
          </p:nvPr>
        </p:nvSpPr>
        <p:spPr/>
        <p:txBody>
          <a:bodyPr/>
          <a:lstStyle/>
          <a:p>
            <a:r>
              <a:rPr lang="en-US" dirty="0"/>
              <a:t>Modeling</a:t>
            </a:r>
          </a:p>
        </p:txBody>
      </p:sp>
      <p:sp>
        <p:nvSpPr>
          <p:cNvPr id="3" name="Content Placeholder 2">
            <a:extLst>
              <a:ext uri="{FF2B5EF4-FFF2-40B4-BE49-F238E27FC236}">
                <a16:creationId xmlns:a16="http://schemas.microsoft.com/office/drawing/2014/main" id="{37EAFD44-5D5E-0842-FF9A-E6858E39CC14}"/>
              </a:ext>
            </a:extLst>
          </p:cNvPr>
          <p:cNvSpPr>
            <a:spLocks noGrp="1"/>
          </p:cNvSpPr>
          <p:nvPr>
            <p:ph idx="1"/>
          </p:nvPr>
        </p:nvSpPr>
        <p:spPr>
          <a:xfrm>
            <a:off x="2012022" y="2288955"/>
            <a:ext cx="8167955" cy="4666882"/>
          </a:xfrm>
        </p:spPr>
        <p:txBody>
          <a:bodyPr>
            <a:normAutofit/>
          </a:bodyPr>
          <a:lstStyle/>
          <a:p>
            <a:r>
              <a:rPr lang="en-US" sz="1400" b="1" dirty="0"/>
              <a:t>Models Tested:</a:t>
            </a:r>
          </a:p>
          <a:p>
            <a:r>
              <a:rPr lang="en-US" sz="1400" dirty="0">
                <a:latin typeface="Arial Rounded MT Bold" panose="020F0704030504030204" pitchFamily="34" charset="0"/>
              </a:rPr>
              <a:t>- Decision Tree Classifier</a:t>
            </a:r>
          </a:p>
          <a:p>
            <a:r>
              <a:rPr lang="en-US" sz="1400" dirty="0">
                <a:latin typeface="Arial Rounded MT Bold" panose="020F0704030504030204" pitchFamily="34" charset="0"/>
              </a:rPr>
              <a:t>- Logistic Regression</a:t>
            </a:r>
          </a:p>
          <a:p>
            <a:r>
              <a:rPr lang="en-US" sz="1400" dirty="0">
                <a:latin typeface="Arial Rounded MT Bold" panose="020F0704030504030204" pitchFamily="34" charset="0"/>
              </a:rPr>
              <a:t>- Random Forest Classifier</a:t>
            </a:r>
          </a:p>
          <a:p>
            <a:r>
              <a:rPr lang="en-US" sz="1400" dirty="0">
                <a:latin typeface="Arial Rounded MT Bold" panose="020F0704030504030204" pitchFamily="34" charset="0"/>
              </a:rPr>
              <a:t>- Gradient Boosting Classifier</a:t>
            </a:r>
          </a:p>
          <a:p>
            <a:r>
              <a:rPr lang="en-US" sz="1400" dirty="0">
                <a:latin typeface="Arial Rounded MT Bold" panose="020F0704030504030204" pitchFamily="34" charset="0"/>
              </a:rPr>
              <a:t>- Support Vector Machine (SVM)</a:t>
            </a:r>
            <a:endParaRPr lang="en-US" sz="700" dirty="0">
              <a:latin typeface="Arial Rounded MT Bold" panose="020F0704030504030204" pitchFamily="34" charset="0"/>
            </a:endParaRPr>
          </a:p>
          <a:p>
            <a:r>
              <a:rPr lang="en-US" sz="1400" b="1" dirty="0"/>
              <a:t>Class Imbalance Handling:</a:t>
            </a:r>
          </a:p>
          <a:p>
            <a:r>
              <a:rPr lang="en-US" sz="1400" dirty="0">
                <a:latin typeface="Arial Rounded MT Bold" panose="020F0704030504030204" pitchFamily="34" charset="0"/>
              </a:rPr>
              <a:t>- Used **SMOTE** (Synthetic Minority Over-sampling Technique) to address class imbalance.</a:t>
            </a:r>
          </a:p>
          <a:p>
            <a:r>
              <a:rPr lang="en-US" sz="1400" dirty="0">
                <a:latin typeface="Arial Rounded MT Bold" panose="020F0704030504030204" pitchFamily="34" charset="0"/>
              </a:rPr>
              <a:t>- Preprocessed data with **Standard Scaling** for numerical features and **One-Hot Encoding** for categorical features.</a:t>
            </a:r>
          </a:p>
          <a:p>
            <a:pPr marL="0" indent="0">
              <a:buNone/>
            </a:pPr>
            <a:r>
              <a:rPr lang="en-US" sz="100" dirty="0"/>
              <a:t>                                                                       </a:t>
            </a:r>
            <a:r>
              <a:rPr lang="en-US" sz="1400" b="1" dirty="0"/>
              <a:t>Best Model:</a:t>
            </a:r>
          </a:p>
          <a:p>
            <a:r>
              <a:rPr lang="en-US" sz="1400" dirty="0">
                <a:latin typeface="Arial Rounded MT Bold" panose="020F0704030504030204" pitchFamily="34" charset="0"/>
              </a:rPr>
              <a:t>- Random Forest Classifier showed the best performance in identifying fraudulent providers with an **ROC AUC of 0.92** and **F1 Score of 0.59**.</a:t>
            </a:r>
          </a:p>
        </p:txBody>
      </p:sp>
    </p:spTree>
    <p:extLst>
      <p:ext uri="{BB962C8B-B14F-4D97-AF65-F5344CB8AC3E}">
        <p14:creationId xmlns:p14="http://schemas.microsoft.com/office/powerpoint/2010/main" val="2226613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FC867-2A35-1AD4-6E00-65672A841403}"/>
              </a:ext>
            </a:extLst>
          </p:cNvPr>
          <p:cNvSpPr>
            <a:spLocks noGrp="1"/>
          </p:cNvSpPr>
          <p:nvPr>
            <p:ph type="title"/>
          </p:nvPr>
        </p:nvSpPr>
        <p:spPr/>
        <p:txBody>
          <a:bodyPr/>
          <a:lstStyle/>
          <a:p>
            <a:r>
              <a:rPr lang="en-US" dirty="0"/>
              <a:t>Overall Methodology</a:t>
            </a:r>
          </a:p>
        </p:txBody>
      </p:sp>
      <p:sp>
        <p:nvSpPr>
          <p:cNvPr id="3" name="Content Placeholder 2">
            <a:extLst>
              <a:ext uri="{FF2B5EF4-FFF2-40B4-BE49-F238E27FC236}">
                <a16:creationId xmlns:a16="http://schemas.microsoft.com/office/drawing/2014/main" id="{3B244CED-CA1B-DF2E-DF06-D707085E0CC7}"/>
              </a:ext>
            </a:extLst>
          </p:cNvPr>
          <p:cNvSpPr>
            <a:spLocks noGrp="1"/>
          </p:cNvSpPr>
          <p:nvPr>
            <p:ph idx="1"/>
          </p:nvPr>
        </p:nvSpPr>
        <p:spPr>
          <a:xfrm>
            <a:off x="2231136" y="2373330"/>
            <a:ext cx="7729728" cy="4356243"/>
          </a:xfrm>
        </p:spPr>
        <p:txBody>
          <a:bodyPr>
            <a:normAutofit fontScale="70000" lnSpcReduction="20000"/>
          </a:bodyPr>
          <a:lstStyle/>
          <a:p>
            <a:endParaRPr lang="en-US" dirty="0"/>
          </a:p>
          <a:p>
            <a:r>
              <a:rPr lang="en-US" b="1" dirty="0"/>
              <a:t>1. Data Understanding</a:t>
            </a:r>
          </a:p>
          <a:p>
            <a:r>
              <a:rPr lang="en-US" dirty="0">
                <a:latin typeface="Arial Rounded MT Bold" panose="020F0704030504030204" pitchFamily="34" charset="0"/>
              </a:rPr>
              <a:t>   – Reviewed 4 datasets (beneficiary, inpatient, outpatient, labels)</a:t>
            </a:r>
          </a:p>
          <a:p>
            <a:r>
              <a:rPr lang="en-US" dirty="0">
                <a:latin typeface="Arial Rounded MT Bold" panose="020F0704030504030204" pitchFamily="34" charset="0"/>
              </a:rPr>
              <a:t>   – Identified key identifiers (</a:t>
            </a:r>
            <a:r>
              <a:rPr lang="en-US" dirty="0" err="1">
                <a:latin typeface="Arial Rounded MT Bold" panose="020F0704030504030204" pitchFamily="34" charset="0"/>
              </a:rPr>
              <a:t>BeneID</a:t>
            </a:r>
            <a:r>
              <a:rPr lang="en-US" dirty="0">
                <a:latin typeface="Arial Rounded MT Bold" panose="020F0704030504030204" pitchFamily="34" charset="0"/>
              </a:rPr>
              <a:t>, Provider)</a:t>
            </a:r>
          </a:p>
          <a:p>
            <a:endParaRPr lang="en-US" dirty="0"/>
          </a:p>
          <a:p>
            <a:r>
              <a:rPr lang="en-US" b="1" dirty="0"/>
              <a:t>2. Data Cleaning</a:t>
            </a:r>
          </a:p>
          <a:p>
            <a:r>
              <a:rPr lang="en-US" dirty="0">
                <a:latin typeface="Arial Rounded MT Bold" panose="020F0704030504030204" pitchFamily="34" charset="0"/>
              </a:rPr>
              <a:t>   – Handled missing values and inconsistent provider IDs</a:t>
            </a:r>
          </a:p>
          <a:p>
            <a:r>
              <a:rPr lang="en-US" dirty="0">
                <a:latin typeface="Arial Rounded MT Bold" panose="020F0704030504030204" pitchFamily="34" charset="0"/>
              </a:rPr>
              <a:t>   – Standardized formats across all datasets</a:t>
            </a:r>
          </a:p>
          <a:p>
            <a:endParaRPr lang="en-US" dirty="0"/>
          </a:p>
          <a:p>
            <a:r>
              <a:rPr lang="en-US" b="1" dirty="0"/>
              <a:t>3. Exploratory Data Analysis (EDA)</a:t>
            </a:r>
          </a:p>
          <a:p>
            <a:r>
              <a:rPr lang="en-US" dirty="0">
                <a:latin typeface="Arial Rounded MT Bold" panose="020F0704030504030204" pitchFamily="34" charset="0"/>
              </a:rPr>
              <a:t>   – Class imbalance analysis (10% fraud)</a:t>
            </a:r>
          </a:p>
          <a:p>
            <a:r>
              <a:rPr lang="en-US" dirty="0">
                <a:latin typeface="Arial Rounded MT Bold" panose="020F0704030504030204" pitchFamily="34" charset="0"/>
              </a:rPr>
              <a:t>   – Outlier detection</a:t>
            </a:r>
          </a:p>
          <a:p>
            <a:r>
              <a:rPr lang="en-US" dirty="0">
                <a:latin typeface="Arial Rounded MT Bold" panose="020F0704030504030204" pitchFamily="34" charset="0"/>
              </a:rPr>
              <a:t>   – Comparison between fraudulent and non-fraudulent providers</a:t>
            </a:r>
          </a:p>
          <a:p>
            <a:r>
              <a:rPr lang="en-US" dirty="0">
                <a:latin typeface="Arial Rounded MT Bold" panose="020F0704030504030204" pitchFamily="34" charset="0"/>
              </a:rPr>
              <a:t>   – Claim amount patterns (inpatient vs outpatient)</a:t>
            </a:r>
          </a:p>
          <a:p>
            <a:r>
              <a:rPr lang="en-US" dirty="0">
                <a:latin typeface="Arial Rounded MT Bold" panose="020F0704030504030204" pitchFamily="34" charset="0"/>
              </a:rPr>
              <a:t>   – Correlation and feature importance insights</a:t>
            </a:r>
          </a:p>
          <a:p>
            <a:endParaRPr lang="en-US" dirty="0"/>
          </a:p>
        </p:txBody>
      </p:sp>
    </p:spTree>
    <p:extLst>
      <p:ext uri="{BB962C8B-B14F-4D97-AF65-F5344CB8AC3E}">
        <p14:creationId xmlns:p14="http://schemas.microsoft.com/office/powerpoint/2010/main" val="737317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0214D2AF-E7DD-879B-BB5A-A85EC7B3D07D}"/>
              </a:ext>
            </a:extLst>
          </p:cNvPr>
          <p:cNvSpPr txBox="1">
            <a:spLocks/>
          </p:cNvSpPr>
          <p:nvPr/>
        </p:nvSpPr>
        <p:spPr>
          <a:xfrm>
            <a:off x="2231136" y="716623"/>
            <a:ext cx="7729728" cy="5424754"/>
          </a:xfrm>
          <a:prstGeom prst="rect">
            <a:avLst/>
          </a:prstGeom>
        </p:spPr>
        <p:txBody>
          <a:bodyPr>
            <a:normAutofit fontScale="70000" lnSpcReduction="20000"/>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endParaRPr lang="en-US" dirty="0"/>
          </a:p>
          <a:p>
            <a:r>
              <a:rPr lang="en-US" sz="2100" b="1" dirty="0"/>
              <a:t>4. Feature Engineering</a:t>
            </a:r>
          </a:p>
          <a:p>
            <a:r>
              <a:rPr lang="en-US" dirty="0">
                <a:latin typeface="Arial Rounded MT Bold" panose="020F0704030504030204" pitchFamily="34" charset="0"/>
              </a:rPr>
              <a:t>   – Aggregated claims per provider</a:t>
            </a:r>
          </a:p>
          <a:p>
            <a:r>
              <a:rPr lang="en-US" dirty="0">
                <a:latin typeface="Arial Rounded MT Bold" panose="020F0704030504030204" pitchFamily="34" charset="0"/>
              </a:rPr>
              <a:t>   – Computed claim costs, procedures, and beneficiary features</a:t>
            </a:r>
          </a:p>
          <a:p>
            <a:r>
              <a:rPr lang="en-US" dirty="0">
                <a:latin typeface="Arial Rounded MT Bold" panose="020F0704030504030204" pitchFamily="34" charset="0"/>
              </a:rPr>
              <a:t>   – Created final provider-level dataset</a:t>
            </a:r>
          </a:p>
          <a:p>
            <a:endParaRPr lang="en-US" dirty="0"/>
          </a:p>
          <a:p>
            <a:r>
              <a:rPr lang="en-US" sz="2100" b="1" dirty="0"/>
              <a:t>5. Modeling</a:t>
            </a:r>
          </a:p>
          <a:p>
            <a:r>
              <a:rPr lang="en-US" dirty="0">
                <a:latin typeface="Arial Rounded MT Bold" panose="020F0704030504030204" pitchFamily="34" charset="0"/>
              </a:rPr>
              <a:t>   – Trained Logistic Regression, Decision Tree, Random Forest, Gradient Boosting, SVM</a:t>
            </a:r>
          </a:p>
          <a:p>
            <a:r>
              <a:rPr lang="en-US" dirty="0">
                <a:latin typeface="Arial Rounded MT Bold" panose="020F0704030504030204" pitchFamily="34" charset="0"/>
              </a:rPr>
              <a:t>   – Applied SMOTE for imbalance</a:t>
            </a:r>
          </a:p>
          <a:p>
            <a:r>
              <a:rPr lang="en-US" dirty="0">
                <a:latin typeface="Arial Rounded MT Bold" panose="020F0704030504030204" pitchFamily="34" charset="0"/>
              </a:rPr>
              <a:t>   – Applied </a:t>
            </a:r>
            <a:r>
              <a:rPr lang="en-US" dirty="0" err="1">
                <a:latin typeface="Arial Rounded MT Bold" panose="020F0704030504030204" pitchFamily="34" charset="0"/>
              </a:rPr>
              <a:t>StandardScaling</a:t>
            </a:r>
            <a:r>
              <a:rPr lang="en-US" dirty="0">
                <a:latin typeface="Arial Rounded MT Bold" panose="020F0704030504030204" pitchFamily="34" charset="0"/>
              </a:rPr>
              <a:t> + </a:t>
            </a:r>
            <a:r>
              <a:rPr lang="en-US" dirty="0" err="1">
                <a:latin typeface="Arial Rounded MT Bold" panose="020F0704030504030204" pitchFamily="34" charset="0"/>
              </a:rPr>
              <a:t>OneHotEncoding</a:t>
            </a:r>
            <a:endParaRPr lang="en-US" dirty="0">
              <a:latin typeface="Arial Rounded MT Bold" panose="020F0704030504030204" pitchFamily="34" charset="0"/>
            </a:endParaRPr>
          </a:p>
          <a:p>
            <a:endParaRPr lang="en-US" dirty="0"/>
          </a:p>
          <a:p>
            <a:r>
              <a:rPr lang="en-US" sz="2100" b="1" dirty="0"/>
              <a:t>6. Evaluation</a:t>
            </a:r>
          </a:p>
          <a:p>
            <a:r>
              <a:rPr lang="en-US" dirty="0">
                <a:latin typeface="Arial Rounded MT Bold" panose="020F0704030504030204" pitchFamily="34" charset="0"/>
              </a:rPr>
              <a:t>   – Used Precision, Recall, F1 Score, PR AUC, ROC AUC</a:t>
            </a:r>
          </a:p>
          <a:p>
            <a:r>
              <a:rPr lang="en-US" dirty="0">
                <a:latin typeface="Arial Rounded MT Bold" panose="020F0704030504030204" pitchFamily="34" charset="0"/>
              </a:rPr>
              <a:t>   – Compared models and selected best-performing one</a:t>
            </a:r>
          </a:p>
          <a:p>
            <a:endParaRPr lang="en-US" dirty="0"/>
          </a:p>
          <a:p>
            <a:r>
              <a:rPr lang="en-US" sz="2100" b="1" dirty="0"/>
              <a:t>7. Error Analysis &amp; Business Impact</a:t>
            </a:r>
          </a:p>
          <a:p>
            <a:r>
              <a:rPr lang="en-US" dirty="0">
                <a:latin typeface="Arial Rounded MT Bold" panose="020F0704030504030204" pitchFamily="34" charset="0"/>
              </a:rPr>
              <a:t>   – Analyzed financial impact of FP/FN</a:t>
            </a:r>
          </a:p>
          <a:p>
            <a:r>
              <a:rPr lang="en-US" dirty="0">
                <a:latin typeface="Arial Rounded MT Bold" panose="020F0704030504030204" pitchFamily="34" charset="0"/>
              </a:rPr>
              <a:t>   – Highlighted improvements for CMS</a:t>
            </a:r>
          </a:p>
        </p:txBody>
      </p:sp>
    </p:spTree>
    <p:extLst>
      <p:ext uri="{BB962C8B-B14F-4D97-AF65-F5344CB8AC3E}">
        <p14:creationId xmlns:p14="http://schemas.microsoft.com/office/powerpoint/2010/main" val="876356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27F6E-617E-C08E-6383-95F60150EBC7}"/>
              </a:ext>
            </a:extLst>
          </p:cNvPr>
          <p:cNvSpPr>
            <a:spLocks noGrp="1"/>
          </p:cNvSpPr>
          <p:nvPr>
            <p:ph type="title"/>
          </p:nvPr>
        </p:nvSpPr>
        <p:spPr/>
        <p:txBody>
          <a:bodyPr/>
          <a:lstStyle/>
          <a:p>
            <a:r>
              <a:rPr lang="en-US" dirty="0"/>
              <a:t>Evaluation</a:t>
            </a:r>
          </a:p>
        </p:txBody>
      </p:sp>
      <p:sp>
        <p:nvSpPr>
          <p:cNvPr id="3" name="Content Placeholder 2">
            <a:extLst>
              <a:ext uri="{FF2B5EF4-FFF2-40B4-BE49-F238E27FC236}">
                <a16:creationId xmlns:a16="http://schemas.microsoft.com/office/drawing/2014/main" id="{3786A1FF-C86C-BE4B-1370-1F09FABCF869}"/>
              </a:ext>
            </a:extLst>
          </p:cNvPr>
          <p:cNvSpPr>
            <a:spLocks noGrp="1"/>
          </p:cNvSpPr>
          <p:nvPr>
            <p:ph idx="1"/>
          </p:nvPr>
        </p:nvSpPr>
        <p:spPr>
          <a:xfrm>
            <a:off x="2231136" y="2638044"/>
            <a:ext cx="7729728" cy="3855223"/>
          </a:xfrm>
        </p:spPr>
        <p:txBody>
          <a:bodyPr>
            <a:normAutofit fontScale="85000" lnSpcReduction="10000"/>
          </a:bodyPr>
          <a:lstStyle/>
          <a:p>
            <a:r>
              <a:rPr lang="en-US" b="1" dirty="0"/>
              <a:t>Evaluation Metrics:</a:t>
            </a:r>
          </a:p>
          <a:p>
            <a:r>
              <a:rPr lang="en-US" dirty="0">
                <a:latin typeface="Arial Rounded MT Bold" panose="020F0704030504030204" pitchFamily="34" charset="0"/>
              </a:rPr>
              <a:t>- Precision: Proportion of true positives among all positive predictions.</a:t>
            </a:r>
          </a:p>
          <a:p>
            <a:r>
              <a:rPr lang="en-US" dirty="0">
                <a:latin typeface="Arial Rounded MT Bold" panose="020F0704030504030204" pitchFamily="34" charset="0"/>
              </a:rPr>
              <a:t>- Recall: Proportion of true positives among all actual positives.</a:t>
            </a:r>
          </a:p>
          <a:p>
            <a:r>
              <a:rPr lang="en-US" dirty="0">
                <a:latin typeface="Arial Rounded MT Bold" panose="020F0704030504030204" pitchFamily="34" charset="0"/>
              </a:rPr>
              <a:t>- F1 Score: Harmonic mean of Precision and Recall.</a:t>
            </a:r>
          </a:p>
          <a:p>
            <a:r>
              <a:rPr lang="en-US" dirty="0">
                <a:latin typeface="Arial Rounded MT Bold" panose="020F0704030504030204" pitchFamily="34" charset="0"/>
              </a:rPr>
              <a:t>- PR AUC: Area under the Precision-Recall curve (important for imbalanced data).</a:t>
            </a:r>
          </a:p>
          <a:p>
            <a:r>
              <a:rPr lang="en-US" dirty="0">
                <a:latin typeface="Arial Rounded MT Bold" panose="020F0704030504030204" pitchFamily="34" charset="0"/>
              </a:rPr>
              <a:t>- ROC AUC: Measures the ability of the model to distinguish between classes.</a:t>
            </a:r>
          </a:p>
          <a:p>
            <a:endParaRPr lang="en-US" dirty="0">
              <a:latin typeface="Arial Rounded MT Bold" panose="020F0704030504030204" pitchFamily="34" charset="0"/>
            </a:endParaRPr>
          </a:p>
          <a:p>
            <a:r>
              <a:rPr lang="en-US" dirty="0">
                <a:latin typeface="Arial Rounded MT Bold" panose="020F0704030504030204" pitchFamily="34" charset="0"/>
              </a:rPr>
              <a:t>Best Model: Logistic Regression (highest ROC AUC and Precision).</a:t>
            </a:r>
          </a:p>
          <a:p>
            <a:endParaRPr lang="en-US" dirty="0">
              <a:latin typeface="Arial Rounded MT Bold" panose="020F0704030504030204" pitchFamily="34" charset="0"/>
            </a:endParaRPr>
          </a:p>
          <a:p>
            <a:r>
              <a:rPr lang="en-US" dirty="0">
                <a:latin typeface="Arial Rounded MT Bold" panose="020F0704030504030204" pitchFamily="34" charset="0"/>
              </a:rPr>
              <a:t>Random Forest: Best balance between **Precision** and **Recall**, with **ROC AUC of 0.92**.</a:t>
            </a:r>
          </a:p>
          <a:p>
            <a:endParaRPr lang="en-US" dirty="0"/>
          </a:p>
        </p:txBody>
      </p:sp>
    </p:spTree>
    <p:extLst>
      <p:ext uri="{BB962C8B-B14F-4D97-AF65-F5344CB8AC3E}">
        <p14:creationId xmlns:p14="http://schemas.microsoft.com/office/powerpoint/2010/main" val="1430675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0FC4A-2212-064D-A327-457ED2EADF9C}"/>
              </a:ext>
            </a:extLst>
          </p:cNvPr>
          <p:cNvSpPr>
            <a:spLocks noGrp="1"/>
          </p:cNvSpPr>
          <p:nvPr>
            <p:ph type="title"/>
          </p:nvPr>
        </p:nvSpPr>
        <p:spPr/>
        <p:txBody>
          <a:bodyPr/>
          <a:lstStyle/>
          <a:p>
            <a:r>
              <a:rPr lang="en-US" b="1" dirty="0"/>
              <a:t>Model Comparison Results</a:t>
            </a:r>
            <a:br>
              <a:rPr lang="en-US" b="1" dirty="0"/>
            </a:br>
            <a:endParaRPr lang="en-US" dirty="0"/>
          </a:p>
        </p:txBody>
      </p:sp>
      <p:sp>
        <p:nvSpPr>
          <p:cNvPr id="3" name="Content Placeholder 2">
            <a:extLst>
              <a:ext uri="{FF2B5EF4-FFF2-40B4-BE49-F238E27FC236}">
                <a16:creationId xmlns:a16="http://schemas.microsoft.com/office/drawing/2014/main" id="{597F69DC-1FFE-D8A4-E789-F66ABDC4720E}"/>
              </a:ext>
            </a:extLst>
          </p:cNvPr>
          <p:cNvSpPr>
            <a:spLocks noGrp="1"/>
          </p:cNvSpPr>
          <p:nvPr>
            <p:ph idx="1"/>
          </p:nvPr>
        </p:nvSpPr>
        <p:spPr>
          <a:xfrm>
            <a:off x="2303054" y="2391463"/>
            <a:ext cx="4159391" cy="2171465"/>
          </a:xfrm>
        </p:spPr>
        <p:txBody>
          <a:bodyPr>
            <a:normAutofit fontScale="62500" lnSpcReduction="20000"/>
          </a:bodyPr>
          <a:lstStyle/>
          <a:p>
            <a:pPr marL="0" indent="0">
              <a:buNone/>
            </a:pPr>
            <a:r>
              <a:rPr lang="en-US" sz="2500" b="1" dirty="0"/>
              <a:t>LOGISTIC REGRESSION:</a:t>
            </a:r>
          </a:p>
          <a:p>
            <a:pPr marL="0" indent="0">
              <a:buNone/>
            </a:pPr>
            <a:r>
              <a:rPr lang="en-US" sz="2500" b="1" dirty="0"/>
              <a:t>• Precision: 0.4583  </a:t>
            </a:r>
          </a:p>
          <a:p>
            <a:pPr marL="0" indent="0">
              <a:buNone/>
            </a:pPr>
            <a:r>
              <a:rPr lang="en-US" sz="2500" b="1" dirty="0"/>
              <a:t>• Recall: 0.8381  </a:t>
            </a:r>
          </a:p>
          <a:p>
            <a:pPr marL="0" indent="0">
              <a:buNone/>
            </a:pPr>
            <a:r>
              <a:rPr lang="en-US" sz="2500" b="1" dirty="0"/>
              <a:t>• F1 Score: 0.5925  </a:t>
            </a:r>
          </a:p>
          <a:p>
            <a:pPr marL="0" indent="0">
              <a:buNone/>
            </a:pPr>
            <a:r>
              <a:rPr lang="en-US" sz="2500" b="1" dirty="0"/>
              <a:t>• PR AUC: 0.6849  </a:t>
            </a:r>
          </a:p>
          <a:p>
            <a:pPr marL="0" indent="0">
              <a:buNone/>
            </a:pPr>
            <a:r>
              <a:rPr lang="en-US" sz="2500" b="1" dirty="0"/>
              <a:t>• ROC AUC: 0.9366   ← BEST OVERALL</a:t>
            </a:r>
          </a:p>
          <a:p>
            <a:pPr marL="0" indent="0">
              <a:buNone/>
            </a:pPr>
            <a:endParaRPr lang="en-US" sz="200" b="1" dirty="0"/>
          </a:p>
          <a:p>
            <a:pPr marL="0" indent="0">
              <a:buNone/>
            </a:pPr>
            <a:endParaRPr lang="en-US" sz="200" b="1" dirty="0"/>
          </a:p>
          <a:p>
            <a:pPr marL="0" indent="0">
              <a:buNone/>
            </a:pPr>
            <a:endParaRPr lang="en-US" b="1" dirty="0"/>
          </a:p>
        </p:txBody>
      </p:sp>
      <p:sp>
        <p:nvSpPr>
          <p:cNvPr id="4" name="TextBox 3">
            <a:extLst>
              <a:ext uri="{FF2B5EF4-FFF2-40B4-BE49-F238E27FC236}">
                <a16:creationId xmlns:a16="http://schemas.microsoft.com/office/drawing/2014/main" id="{1A8632B5-AF23-84D3-B29C-054BF7465B67}"/>
              </a:ext>
            </a:extLst>
          </p:cNvPr>
          <p:cNvSpPr txBox="1"/>
          <p:nvPr/>
        </p:nvSpPr>
        <p:spPr>
          <a:xfrm>
            <a:off x="6986427" y="2295071"/>
            <a:ext cx="3441842" cy="2031325"/>
          </a:xfrm>
          <a:prstGeom prst="rect">
            <a:avLst/>
          </a:prstGeom>
          <a:noFill/>
        </p:spPr>
        <p:txBody>
          <a:bodyPr wrap="square" rtlCol="0">
            <a:spAutoFit/>
          </a:bodyPr>
          <a:lstStyle/>
          <a:p>
            <a:r>
              <a:rPr lang="en-US" b="1" dirty="0"/>
              <a:t>GRADIENT BOOSTING:</a:t>
            </a:r>
          </a:p>
          <a:p>
            <a:r>
              <a:rPr lang="en-US" b="1" dirty="0"/>
              <a:t>• Precision: 0.4907  </a:t>
            </a:r>
          </a:p>
          <a:p>
            <a:r>
              <a:rPr lang="en-US" b="1" dirty="0"/>
              <a:t>• Recall: 0.7619  </a:t>
            </a:r>
          </a:p>
          <a:p>
            <a:r>
              <a:rPr lang="en-US" b="1" dirty="0"/>
              <a:t>• F1 Score: 0.5970  </a:t>
            </a:r>
          </a:p>
          <a:p>
            <a:r>
              <a:rPr lang="en-US" b="1" dirty="0"/>
              <a:t>• PR AUC: 0.6265  </a:t>
            </a:r>
          </a:p>
          <a:p>
            <a:r>
              <a:rPr lang="en-US" b="1" dirty="0"/>
              <a:t>• ROC AUC: 0.9167</a:t>
            </a:r>
          </a:p>
          <a:p>
            <a:endParaRPr lang="en-US" dirty="0"/>
          </a:p>
        </p:txBody>
      </p:sp>
      <p:sp>
        <p:nvSpPr>
          <p:cNvPr id="6" name="TextBox 5">
            <a:extLst>
              <a:ext uri="{FF2B5EF4-FFF2-40B4-BE49-F238E27FC236}">
                <a16:creationId xmlns:a16="http://schemas.microsoft.com/office/drawing/2014/main" id="{2D057F77-9823-BFAD-E87D-B915007A82EB}"/>
              </a:ext>
            </a:extLst>
          </p:cNvPr>
          <p:cNvSpPr txBox="1"/>
          <p:nvPr/>
        </p:nvSpPr>
        <p:spPr>
          <a:xfrm>
            <a:off x="4705565" y="4694315"/>
            <a:ext cx="2373329" cy="1754326"/>
          </a:xfrm>
          <a:prstGeom prst="rect">
            <a:avLst/>
          </a:prstGeom>
          <a:noFill/>
        </p:spPr>
        <p:txBody>
          <a:bodyPr wrap="square">
            <a:spAutoFit/>
          </a:bodyPr>
          <a:lstStyle/>
          <a:p>
            <a:pPr marL="0" indent="0">
              <a:buNone/>
            </a:pPr>
            <a:r>
              <a:rPr lang="en-US" sz="1800" b="1" dirty="0"/>
              <a:t>RANDOM FOREST:</a:t>
            </a:r>
          </a:p>
          <a:p>
            <a:pPr marL="0" indent="0">
              <a:buNone/>
            </a:pPr>
            <a:r>
              <a:rPr lang="en-US" sz="1800" b="1" dirty="0"/>
              <a:t>• Precision: 0.544  </a:t>
            </a:r>
          </a:p>
          <a:p>
            <a:pPr marL="0" indent="0">
              <a:buNone/>
            </a:pPr>
            <a:r>
              <a:rPr lang="en-US" sz="1800" b="1" dirty="0"/>
              <a:t>• Recall: 0.6476  </a:t>
            </a:r>
          </a:p>
          <a:p>
            <a:pPr marL="0" indent="0">
              <a:buNone/>
            </a:pPr>
            <a:r>
              <a:rPr lang="en-US" sz="1800" b="1" dirty="0"/>
              <a:t>• F1 Score: 0.5913  </a:t>
            </a:r>
          </a:p>
          <a:p>
            <a:pPr marL="0" indent="0">
              <a:buNone/>
            </a:pPr>
            <a:r>
              <a:rPr lang="en-US" sz="1800" b="1" dirty="0"/>
              <a:t>• PR AUC: 0.6125  </a:t>
            </a:r>
          </a:p>
          <a:p>
            <a:pPr marL="0" indent="0">
              <a:buNone/>
            </a:pPr>
            <a:r>
              <a:rPr lang="en-US" sz="1800" b="1" dirty="0"/>
              <a:t>• ROC AUC: 0.9231</a:t>
            </a:r>
          </a:p>
        </p:txBody>
      </p:sp>
    </p:spTree>
    <p:extLst>
      <p:ext uri="{BB962C8B-B14F-4D97-AF65-F5344CB8AC3E}">
        <p14:creationId xmlns:p14="http://schemas.microsoft.com/office/powerpoint/2010/main" val="3059443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BE89F-C04B-8281-1123-D6688CEC21CF}"/>
              </a:ext>
            </a:extLst>
          </p:cNvPr>
          <p:cNvSpPr>
            <a:spLocks noGrp="1"/>
          </p:cNvSpPr>
          <p:nvPr>
            <p:ph type="title"/>
          </p:nvPr>
        </p:nvSpPr>
        <p:spPr/>
        <p:txBody>
          <a:bodyPr/>
          <a:lstStyle/>
          <a:p>
            <a:r>
              <a:rPr lang="en-US" dirty="0"/>
              <a:t>Best Model Justification</a:t>
            </a:r>
          </a:p>
        </p:txBody>
      </p:sp>
      <p:sp>
        <p:nvSpPr>
          <p:cNvPr id="3" name="Content Placeholder 2">
            <a:extLst>
              <a:ext uri="{FF2B5EF4-FFF2-40B4-BE49-F238E27FC236}">
                <a16:creationId xmlns:a16="http://schemas.microsoft.com/office/drawing/2014/main" id="{249F8FB7-7CA5-D854-8124-35D4C92FFB9C}"/>
              </a:ext>
            </a:extLst>
          </p:cNvPr>
          <p:cNvSpPr>
            <a:spLocks noGrp="1"/>
          </p:cNvSpPr>
          <p:nvPr>
            <p:ph idx="1"/>
          </p:nvPr>
        </p:nvSpPr>
        <p:spPr>
          <a:xfrm>
            <a:off x="2231135" y="2638044"/>
            <a:ext cx="8392343" cy="4219956"/>
          </a:xfrm>
        </p:spPr>
        <p:txBody>
          <a:bodyPr>
            <a:normAutofit fontScale="85000" lnSpcReduction="20000"/>
          </a:bodyPr>
          <a:lstStyle/>
          <a:p>
            <a:r>
              <a:rPr lang="en-US" dirty="0">
                <a:latin typeface="Arial Rounded MT Bold" panose="020F0704030504030204" pitchFamily="34" charset="0"/>
              </a:rPr>
              <a:t>BEST MODEL: Logistic Regression </a:t>
            </a:r>
          </a:p>
          <a:p>
            <a:pPr marL="0" indent="0">
              <a:buNone/>
            </a:pPr>
            <a:endParaRPr lang="en-US" dirty="0">
              <a:latin typeface="Arial Rounded MT Bold" panose="020F0704030504030204" pitchFamily="34" charset="0"/>
            </a:endParaRPr>
          </a:p>
          <a:p>
            <a:r>
              <a:rPr lang="en-US" dirty="0">
                <a:latin typeface="Arial Rounded MT Bold" panose="020F0704030504030204" pitchFamily="34" charset="0"/>
              </a:rPr>
              <a:t>Note: Logistic Regression achieved the highest ROC AUC and overall precision, while Random Forest achieved the best balance between precision and recall. Based on ROC AUC and interpretability, Logistic Regression is considered the best overall model.</a:t>
            </a:r>
          </a:p>
          <a:p>
            <a:pPr marL="0" indent="0">
              <a:buNone/>
            </a:pPr>
            <a:endParaRPr lang="en-US" dirty="0">
              <a:latin typeface="Arial Rounded MT Bold" panose="020F0704030504030204" pitchFamily="34" charset="0"/>
            </a:endParaRPr>
          </a:p>
          <a:p>
            <a:r>
              <a:rPr lang="en-US" dirty="0">
                <a:latin typeface="Arial Rounded MT Bold" panose="020F0704030504030204" pitchFamily="34" charset="0"/>
              </a:rPr>
              <a:t>WHY?</a:t>
            </a:r>
          </a:p>
          <a:p>
            <a:r>
              <a:rPr lang="en-US" dirty="0">
                <a:latin typeface="Arial Rounded MT Bold" panose="020F0704030504030204" pitchFamily="34" charset="0"/>
              </a:rPr>
              <a:t>• Highest ROC AUC  </a:t>
            </a:r>
          </a:p>
          <a:p>
            <a:r>
              <a:rPr lang="en-US" dirty="0">
                <a:latin typeface="Arial Rounded MT Bold" panose="020F0704030504030204" pitchFamily="34" charset="0"/>
              </a:rPr>
              <a:t>• Strong Precision and Recall balance  </a:t>
            </a:r>
          </a:p>
          <a:p>
            <a:r>
              <a:rPr lang="en-US" dirty="0">
                <a:latin typeface="Arial Rounded MT Bold" panose="020F0704030504030204" pitchFamily="34" charset="0"/>
              </a:rPr>
              <a:t>• Highly interpretable for auditors  </a:t>
            </a:r>
          </a:p>
          <a:p>
            <a:r>
              <a:rPr lang="en-US" dirty="0">
                <a:latin typeface="Arial Rounded MT Bold" panose="020F0704030504030204" pitchFamily="34" charset="0"/>
              </a:rPr>
              <a:t>• Ideal for regulatory and compliance environments  </a:t>
            </a:r>
          </a:p>
          <a:p>
            <a:endParaRPr lang="en-US" dirty="0">
              <a:latin typeface="Arial Rounded MT Bold" panose="020F0704030504030204" pitchFamily="34" charset="0"/>
            </a:endParaRPr>
          </a:p>
          <a:p>
            <a:r>
              <a:rPr lang="en-US" dirty="0">
                <a:latin typeface="Arial Rounded MT Bold" panose="020F0704030504030204" pitchFamily="34" charset="0"/>
              </a:rPr>
              <a:t>Random Forest is also strong but slightly less interpretable.</a:t>
            </a:r>
          </a:p>
        </p:txBody>
      </p:sp>
    </p:spTree>
    <p:extLst>
      <p:ext uri="{BB962C8B-B14F-4D97-AF65-F5344CB8AC3E}">
        <p14:creationId xmlns:p14="http://schemas.microsoft.com/office/powerpoint/2010/main" val="1495425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64364-F757-F903-2363-C46DDF24924D}"/>
              </a:ext>
            </a:extLst>
          </p:cNvPr>
          <p:cNvSpPr>
            <a:spLocks noGrp="1"/>
          </p:cNvSpPr>
          <p:nvPr>
            <p:ph type="title"/>
          </p:nvPr>
        </p:nvSpPr>
        <p:spPr/>
        <p:txBody>
          <a:bodyPr/>
          <a:lstStyle/>
          <a:p>
            <a:r>
              <a:rPr lang="en-US" dirty="0"/>
              <a:t>Error Analysis	</a:t>
            </a:r>
          </a:p>
        </p:txBody>
      </p:sp>
      <p:sp>
        <p:nvSpPr>
          <p:cNvPr id="3" name="Content Placeholder 2">
            <a:extLst>
              <a:ext uri="{FF2B5EF4-FFF2-40B4-BE49-F238E27FC236}">
                <a16:creationId xmlns:a16="http://schemas.microsoft.com/office/drawing/2014/main" id="{4F9D3458-04CE-8533-59B2-18182CEE3709}"/>
              </a:ext>
            </a:extLst>
          </p:cNvPr>
          <p:cNvSpPr>
            <a:spLocks noGrp="1"/>
          </p:cNvSpPr>
          <p:nvPr>
            <p:ph idx="1"/>
          </p:nvPr>
        </p:nvSpPr>
        <p:spPr>
          <a:xfrm>
            <a:off x="2231136" y="2401738"/>
            <a:ext cx="8197134" cy="4456262"/>
          </a:xfrm>
        </p:spPr>
        <p:txBody>
          <a:bodyPr>
            <a:normAutofit fontScale="85000" lnSpcReduction="20000"/>
          </a:bodyPr>
          <a:lstStyle/>
          <a:p>
            <a:r>
              <a:rPr lang="en-US" sz="1900" b="1" dirty="0"/>
              <a:t>Error Analysis:</a:t>
            </a:r>
          </a:p>
          <a:p>
            <a:r>
              <a:rPr lang="en-US" dirty="0">
                <a:latin typeface="Arial Rounded MT Bold" panose="020F0704030504030204" pitchFamily="34" charset="0"/>
              </a:rPr>
              <a:t>- False Positives: Legitimate providers flagged as fraudulent.</a:t>
            </a:r>
          </a:p>
          <a:p>
            <a:r>
              <a:rPr lang="en-US" dirty="0">
                <a:latin typeface="Arial Rounded MT Bold" panose="020F0704030504030204" pitchFamily="34" charset="0"/>
              </a:rPr>
              <a:t>  - Example: Providers PRV52296, PRV52318.</a:t>
            </a:r>
          </a:p>
          <a:p>
            <a:r>
              <a:rPr lang="en-US" dirty="0">
                <a:latin typeface="Arial Rounded MT Bold" panose="020F0704030504030204" pitchFamily="34" charset="0"/>
              </a:rPr>
              <a:t>  - Cost: $1,000 per false positive due to unnecessary investigations.</a:t>
            </a:r>
          </a:p>
          <a:p>
            <a:pPr marL="0" indent="0">
              <a:buNone/>
            </a:pPr>
            <a:r>
              <a:rPr lang="en-US" sz="900" dirty="0">
                <a:latin typeface="Arial Rounded MT Bold" panose="020F0704030504030204" pitchFamily="34" charset="0"/>
              </a:rPr>
              <a:t>  </a:t>
            </a:r>
            <a:endParaRPr lang="en-US" dirty="0">
              <a:latin typeface="Arial Rounded MT Bold" panose="020F0704030504030204" pitchFamily="34" charset="0"/>
            </a:endParaRPr>
          </a:p>
          <a:p>
            <a:r>
              <a:rPr lang="en-US" dirty="0">
                <a:latin typeface="Arial Rounded MT Bold" panose="020F0704030504030204" pitchFamily="34" charset="0"/>
              </a:rPr>
              <a:t>- False Negatives: Fraudulent providers missed by the model.</a:t>
            </a:r>
          </a:p>
          <a:p>
            <a:r>
              <a:rPr lang="en-US" dirty="0">
                <a:latin typeface="Arial Rounded MT Bold" panose="020F0704030504030204" pitchFamily="34" charset="0"/>
              </a:rPr>
              <a:t>  - Example: Providers PRV51378, PRV51480.</a:t>
            </a:r>
          </a:p>
          <a:p>
            <a:r>
              <a:rPr lang="en-US" dirty="0">
                <a:latin typeface="Arial Rounded MT Bold" panose="020F0704030504030204" pitchFamily="34" charset="0"/>
              </a:rPr>
              <a:t>  - **Cost**: $5,000 per false negative due to undetected fraud.</a:t>
            </a:r>
          </a:p>
          <a:p>
            <a:endParaRPr lang="en-US" sz="100" dirty="0"/>
          </a:p>
          <a:p>
            <a:r>
              <a:rPr lang="en-US" sz="1900" b="1" dirty="0"/>
              <a:t>Financial Impact:</a:t>
            </a:r>
          </a:p>
          <a:p>
            <a:r>
              <a:rPr lang="en-US" dirty="0">
                <a:latin typeface="Arial Rounded MT Bold" panose="020F0704030504030204" pitchFamily="34" charset="0"/>
              </a:rPr>
              <a:t>- Total **False Positive Cost**: $3,000</a:t>
            </a:r>
          </a:p>
          <a:p>
            <a:r>
              <a:rPr lang="en-US" dirty="0">
                <a:latin typeface="Arial Rounded MT Bold" panose="020F0704030504030204" pitchFamily="34" charset="0"/>
              </a:rPr>
              <a:t>- Total **False Negative Cost**: $15,000</a:t>
            </a:r>
          </a:p>
          <a:p>
            <a:endParaRPr lang="en-US" sz="1100" dirty="0">
              <a:latin typeface="Arial Rounded MT Bold" panose="020F0704030504030204" pitchFamily="34" charset="0"/>
            </a:endParaRPr>
          </a:p>
          <a:p>
            <a:r>
              <a:rPr lang="en-US" dirty="0">
                <a:latin typeface="Arial Rounded MT Bold" panose="020F0704030504030204" pitchFamily="34" charset="0"/>
              </a:rPr>
              <a:t>The significant cost of **false negatives** emphasizes the need to improve fraud detection.</a:t>
            </a:r>
          </a:p>
          <a:p>
            <a:endParaRPr lang="en-US" dirty="0"/>
          </a:p>
        </p:txBody>
      </p:sp>
    </p:spTree>
    <p:extLst>
      <p:ext uri="{BB962C8B-B14F-4D97-AF65-F5344CB8AC3E}">
        <p14:creationId xmlns:p14="http://schemas.microsoft.com/office/powerpoint/2010/main" val="65068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15410-A475-36B3-8CDE-9C88C3B6E753}"/>
              </a:ext>
            </a:extLst>
          </p:cNvPr>
          <p:cNvSpPr>
            <a:spLocks noGrp="1"/>
          </p:cNvSpPr>
          <p:nvPr>
            <p:ph type="title"/>
          </p:nvPr>
        </p:nvSpPr>
        <p:spPr/>
        <p:txBody>
          <a:bodyPr/>
          <a:lstStyle/>
          <a:p>
            <a:r>
              <a:rPr lang="en-US" dirty="0"/>
              <a:t>Business Impact</a:t>
            </a:r>
            <a:endParaRPr lang="en-US" b="1" dirty="0"/>
          </a:p>
        </p:txBody>
      </p:sp>
      <p:sp>
        <p:nvSpPr>
          <p:cNvPr id="3" name="Content Placeholder 2">
            <a:extLst>
              <a:ext uri="{FF2B5EF4-FFF2-40B4-BE49-F238E27FC236}">
                <a16:creationId xmlns:a16="http://schemas.microsoft.com/office/drawing/2014/main" id="{62DAFF3F-EA9D-2F71-ABFC-D733CA36D8D4}"/>
              </a:ext>
            </a:extLst>
          </p:cNvPr>
          <p:cNvSpPr>
            <a:spLocks noGrp="1"/>
          </p:cNvSpPr>
          <p:nvPr>
            <p:ph idx="1"/>
          </p:nvPr>
        </p:nvSpPr>
        <p:spPr>
          <a:xfrm>
            <a:off x="2231136" y="2638044"/>
            <a:ext cx="7729728" cy="3711385"/>
          </a:xfrm>
        </p:spPr>
        <p:txBody>
          <a:bodyPr>
            <a:normAutofit lnSpcReduction="10000"/>
          </a:bodyPr>
          <a:lstStyle/>
          <a:p>
            <a:r>
              <a:rPr lang="en-US" b="1" dirty="0"/>
              <a:t>Business Impact:</a:t>
            </a:r>
          </a:p>
          <a:p>
            <a:r>
              <a:rPr lang="en-US" dirty="0">
                <a:latin typeface="Arial Rounded MT Bold" panose="020F0704030504030204" pitchFamily="34" charset="0"/>
              </a:rPr>
              <a:t>- Reduced Financial Losses: Prioritizing high-risk providers will help CMS focus resources on the most critical cases.</a:t>
            </a:r>
          </a:p>
          <a:p>
            <a:r>
              <a:rPr lang="en-US" dirty="0">
                <a:latin typeface="Arial Rounded MT Bold" panose="020F0704030504030204" pitchFamily="34" charset="0"/>
              </a:rPr>
              <a:t>- Operational Efficiency: The model reduces unnecessary investigations by minimizing false positives.</a:t>
            </a:r>
          </a:p>
          <a:p>
            <a:r>
              <a:rPr lang="en-US" dirty="0">
                <a:latin typeface="Arial Rounded MT Bold" panose="020F0704030504030204" pitchFamily="34" charset="0"/>
              </a:rPr>
              <a:t>- Fraud Prevention: The model helps detect fraudulent behavior early, saving significant costs for CMS.</a:t>
            </a:r>
          </a:p>
          <a:p>
            <a:endParaRPr lang="en-US" dirty="0">
              <a:latin typeface="Arial Rounded MT Bold" panose="020F0704030504030204" pitchFamily="34" charset="0"/>
            </a:endParaRPr>
          </a:p>
          <a:p>
            <a:r>
              <a:rPr lang="en-US" dirty="0">
                <a:latin typeface="Arial Rounded MT Bold" panose="020F0704030504030204" pitchFamily="34" charset="0"/>
              </a:rPr>
              <a:t>The model can greatly enhance **fraud detection accuracy**, improving the quality and efficiency of Medicare’s fraud prevention efforts.</a:t>
            </a:r>
          </a:p>
          <a:p>
            <a:endParaRPr lang="en-US" dirty="0"/>
          </a:p>
        </p:txBody>
      </p:sp>
    </p:spTree>
    <p:extLst>
      <p:ext uri="{BB962C8B-B14F-4D97-AF65-F5344CB8AC3E}">
        <p14:creationId xmlns:p14="http://schemas.microsoft.com/office/powerpoint/2010/main" val="3416398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FF636-5E75-EE43-3DA2-C47D2D9C1AC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34C5A9C-93E5-5D18-7933-109B4792C1CD}"/>
              </a:ext>
            </a:extLst>
          </p:cNvPr>
          <p:cNvSpPr>
            <a:spLocks noGrp="1"/>
          </p:cNvSpPr>
          <p:nvPr>
            <p:ph idx="1"/>
          </p:nvPr>
        </p:nvSpPr>
        <p:spPr>
          <a:xfrm>
            <a:off x="2231135" y="2638044"/>
            <a:ext cx="7888909" cy="3773030"/>
          </a:xfrm>
        </p:spPr>
        <p:txBody>
          <a:bodyPr>
            <a:normAutofit fontScale="92500" lnSpcReduction="10000"/>
          </a:bodyPr>
          <a:lstStyle/>
          <a:p>
            <a:r>
              <a:rPr lang="en-US" sz="1900" b="1" dirty="0"/>
              <a:t>Summary:</a:t>
            </a:r>
          </a:p>
          <a:p>
            <a:r>
              <a:rPr lang="en-US" dirty="0">
                <a:latin typeface="Arial Rounded MT Bold" panose="020F0704030504030204" pitchFamily="34" charset="0"/>
              </a:rPr>
              <a:t>- We built a machine learning model to detect fraudulent healthcare providers.</a:t>
            </a:r>
          </a:p>
          <a:p>
            <a:r>
              <a:rPr lang="en-US" dirty="0">
                <a:latin typeface="Arial Rounded MT Bold" panose="020F0704030504030204" pitchFamily="34" charset="0"/>
              </a:rPr>
              <a:t>- The **Random Forest** model showed a good balance between **precision** and **recall**.</a:t>
            </a:r>
          </a:p>
          <a:p>
            <a:r>
              <a:rPr lang="en-US" dirty="0">
                <a:latin typeface="Arial Rounded MT Bold" panose="020F0704030504030204" pitchFamily="34" charset="0"/>
              </a:rPr>
              <a:t>- **Logistic Regression** performed well in terms of **precision** and **ROC AUC**.</a:t>
            </a:r>
          </a:p>
          <a:p>
            <a:pPr marL="0" indent="0">
              <a:buNone/>
            </a:pPr>
            <a:r>
              <a:rPr lang="en-US" dirty="0">
                <a:latin typeface="Arial Rounded MT Bold" panose="020F0704030504030204" pitchFamily="34" charset="0"/>
              </a:rPr>
              <a:t>  </a:t>
            </a:r>
          </a:p>
          <a:p>
            <a:r>
              <a:rPr lang="en-US" sz="1900" b="1" dirty="0"/>
              <a:t>Future Work:</a:t>
            </a:r>
          </a:p>
          <a:p>
            <a:r>
              <a:rPr lang="en-US" dirty="0">
                <a:latin typeface="Arial Rounded MT Bold" panose="020F0704030504030204" pitchFamily="34" charset="0"/>
              </a:rPr>
              <a:t>- Fine-tuning the models, optimizing hyperparameters, and adding new features (e.g., temporal/geographic data) to improve model performance.</a:t>
            </a:r>
          </a:p>
          <a:p>
            <a:endParaRPr lang="en-US" dirty="0"/>
          </a:p>
        </p:txBody>
      </p:sp>
    </p:spTree>
    <p:extLst>
      <p:ext uri="{BB962C8B-B14F-4D97-AF65-F5344CB8AC3E}">
        <p14:creationId xmlns:p14="http://schemas.microsoft.com/office/powerpoint/2010/main" val="877354200"/>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{40A4658E-842B-4D62-8054-166F0A3F4D6A}TFfb9a325e-b4a8-473d-b025-df086f5ae4937a5f077a-90802770140c</Template>
  <TotalTime>1085</TotalTime>
  <Words>1310</Words>
  <Application>Microsoft Office PowerPoint</Application>
  <PresentationFormat>Widescreen</PresentationFormat>
  <Paragraphs>169</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Arial Rounded MT Bold</vt:lpstr>
      <vt:lpstr>Calibri</vt:lpstr>
      <vt:lpstr>Gill Sans MT</vt:lpstr>
      <vt:lpstr>Parcel</vt:lpstr>
      <vt:lpstr>Healthcare Provider Fraud Detection</vt:lpstr>
      <vt:lpstr>Problem Overview</vt:lpstr>
      <vt:lpstr>Project Objective</vt:lpstr>
      <vt:lpstr>Data Understanding</vt:lpstr>
      <vt:lpstr>Exploratory Data Analysis (EDA)</vt:lpstr>
      <vt:lpstr>Fraud vs Non-Fraud Providers</vt:lpstr>
      <vt:lpstr>Claim Amount Distribution</vt:lpstr>
      <vt:lpstr>Claim Amount Distribution</vt:lpstr>
      <vt:lpstr>Claims per Provider</vt:lpstr>
      <vt:lpstr>Claims per Provider</vt:lpstr>
      <vt:lpstr>Feature Engineering</vt:lpstr>
      <vt:lpstr>Modeling</vt:lpstr>
      <vt:lpstr>Overall Methodology</vt:lpstr>
      <vt:lpstr>PowerPoint Presentation</vt:lpstr>
      <vt:lpstr>Evaluation</vt:lpstr>
      <vt:lpstr>Model Comparison Results </vt:lpstr>
      <vt:lpstr>Best Model Justification</vt:lpstr>
      <vt:lpstr>Error Analysis </vt:lpstr>
      <vt:lpstr>Business Impact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Hams Dewedar</dc:creator>
  <cp:lastModifiedBy>Nour Mohamed Mohamed Hassan Ali</cp:lastModifiedBy>
  <cp:revision>5</cp:revision>
  <dcterms:created xsi:type="dcterms:W3CDTF">2025-12-02T09:30:54Z</dcterms:created>
  <dcterms:modified xsi:type="dcterms:W3CDTF">2025-12-03T15:46:51Z</dcterms:modified>
</cp:coreProperties>
</file>